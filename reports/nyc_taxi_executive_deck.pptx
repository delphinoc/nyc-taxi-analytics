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Weekday</c:v>
                </c:pt>
              </c:strCache>
            </c:strRef>
          </c:tx>
          <c:spPr>
            <a:ln w="38100">
              <a:solidFill>
                <a:srgbClr val="14213D"/>
              </a:solidFill>
            </a:ln>
          </c:spPr>
          <c:marker>
            <c:symbol val="none"/>
          </c:marker>
          <c:dPt>
            <c:idx val="18"/>
            <c:marker>
              <c:symbol val="circle"/>
              <c:size val="9"/>
              <c:spPr>
                <a:solidFill>
                  <a:srgbClr val="14213D"/>
                </a:solidFill>
              </c:spPr>
            </c:marker>
          </c:dPt>
          <c:dLbls>
            <c:dLbl>
              <c:idx val="18"/>
              <c:tx>
                <c:rich>
                  <a:bodyPr wrap="none"/>
                  <a:lstStyle/>
                  <a:p>
                    <a:r>
                      <a:rPr sz="1200" b="1">
                        <a:solidFill>
                          <a:srgbClr val="14213D"/>
                        </a:solidFill>
                        <a:latin typeface="Calibri"/>
                      </a:rPr>
                      <a:t>9,401 at 18:00</a:t>
                    </a:r>
                  </a:p>
                </c:rich>
              </c:tx>
              <c:spPr>
                <a:solidFill>
                  <a:srgbClr val="FFFFFF"/>
                </a:solidFill>
              </c:spPr>
              <c:dLblPos val="t"/>
              <c:showLegendKey val="0"/>
              <c:showVal val="1"/>
              <c:showCatName val="0"/>
              <c:showSerName val="0"/>
              <c:showPercent val="0"/>
              <c:showBubbleSize val="0"/>
            </c:dLbl>
            <c:showLegendKey val="0"/>
            <c:showVal val="0"/>
            <c:showCatName val="0"/>
            <c:showSerName val="0"/>
            <c:showPercent val="0"/>
            <c:showBubbleSize val="0"/>
            <c:showLeaderLines val="1"/>
          </c:dLbls>
          <c:cat>
            <c:strRef>
              <c:f>Sheet1!$A$2:$A$25</c:f>
              <c:strCach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Sheet1!$B$2:$B$25</c:f>
              <c:numCache>
                <c:formatCode>General</c:formatCode>
                <c:ptCount val="24"/>
                <c:pt idx="0">
                  <c:v>1454</c:v>
                </c:pt>
                <c:pt idx="1">
                  <c:v>650</c:v>
                </c:pt>
                <c:pt idx="2">
                  <c:v>355</c:v>
                </c:pt>
                <c:pt idx="3">
                  <c:v>258</c:v>
                </c:pt>
                <c:pt idx="4">
                  <c:v>320</c:v>
                </c:pt>
                <c:pt idx="5">
                  <c:v>742</c:v>
                </c:pt>
                <c:pt idx="6">
                  <c:v>1901</c:v>
                </c:pt>
                <c:pt idx="7">
                  <c:v>4219</c:v>
                </c:pt>
                <c:pt idx="8">
                  <c:v>5738</c:v>
                </c:pt>
                <c:pt idx="9">
                  <c:v>5321</c:v>
                </c:pt>
                <c:pt idx="10">
                  <c:v>5052</c:v>
                </c:pt>
                <c:pt idx="11">
                  <c:v>5196</c:v>
                </c:pt>
                <c:pt idx="12">
                  <c:v>5584</c:v>
                </c:pt>
                <c:pt idx="13">
                  <c:v>5807</c:v>
                </c:pt>
                <c:pt idx="14">
                  <c:v>6419</c:v>
                </c:pt>
                <c:pt idx="15">
                  <c:v>6936</c:v>
                </c:pt>
                <c:pt idx="16">
                  <c:v>7038</c:v>
                </c:pt>
                <c:pt idx="17">
                  <c:v>8736</c:v>
                </c:pt>
                <c:pt idx="18">
                  <c:v>9401</c:v>
                </c:pt>
                <c:pt idx="19">
                  <c:v>7511</c:v>
                </c:pt>
                <c:pt idx="20">
                  <c:v>6747</c:v>
                </c:pt>
                <c:pt idx="21">
                  <c:v>7226</c:v>
                </c:pt>
                <c:pt idx="22">
                  <c:v>6128</c:v>
                </c:pt>
                <c:pt idx="23">
                  <c:v>4100</c:v>
                </c:pt>
              </c:numCache>
            </c:numRef>
          </c:val>
          <c:smooth val="0"/>
        </c:ser>
        <c:ser>
          <c:idx val="1"/>
          <c:order val="1"/>
          <c:tx>
            <c:strRef>
              <c:f>Sheet1!$C$1</c:f>
              <c:strCache>
                <c:ptCount val="1"/>
                <c:pt idx="0">
                  <c:v>Weekend</c:v>
                </c:pt>
              </c:strCache>
            </c:strRef>
          </c:tx>
          <c:spPr>
            <a:ln w="31750">
              <a:solidFill>
                <a:srgbClr val="F2B705"/>
              </a:solidFill>
            </a:ln>
          </c:spPr>
          <c:marker>
            <c:symbol val="none"/>
          </c:marker>
          <c:cat>
            <c:strRef>
              <c:f>Sheet1!$A$2:$A$25</c:f>
              <c:strCach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Sheet1!$C$2:$C$25</c:f>
              <c:numCache>
                <c:formatCode>General</c:formatCode>
                <c:ptCount val="24"/>
                <c:pt idx="0">
                  <c:v>6199</c:v>
                </c:pt>
                <c:pt idx="1">
                  <c:v>4842</c:v>
                </c:pt>
                <c:pt idx="2">
                  <c:v>3368</c:v>
                </c:pt>
                <c:pt idx="3">
                  <c:v>2065</c:v>
                </c:pt>
                <c:pt idx="4">
                  <c:v>1115</c:v>
                </c:pt>
                <c:pt idx="5">
                  <c:v>511</c:v>
                </c:pt>
                <c:pt idx="6">
                  <c:v>821</c:v>
                </c:pt>
                <c:pt idx="7">
                  <c:v>1222</c:v>
                </c:pt>
                <c:pt idx="8">
                  <c:v>1928</c:v>
                </c:pt>
                <c:pt idx="9">
                  <c:v>3053</c:v>
                </c:pt>
                <c:pt idx="10">
                  <c:v>4162</c:v>
                </c:pt>
                <c:pt idx="11">
                  <c:v>5031</c:v>
                </c:pt>
                <c:pt idx="12">
                  <c:v>5712</c:v>
                </c:pt>
                <c:pt idx="13">
                  <c:v>6258</c:v>
                </c:pt>
                <c:pt idx="14">
                  <c:v>6507</c:v>
                </c:pt>
                <c:pt idx="15">
                  <c:v>6538</c:v>
                </c:pt>
                <c:pt idx="16">
                  <c:v>6761</c:v>
                </c:pt>
                <c:pt idx="17">
                  <c:v>6801</c:v>
                </c:pt>
                <c:pt idx="18">
                  <c:v>6902</c:v>
                </c:pt>
                <c:pt idx="19">
                  <c:v>6300</c:v>
                </c:pt>
                <c:pt idx="20">
                  <c:v>5216</c:v>
                </c:pt>
                <c:pt idx="21">
                  <c:v>5346</c:v>
                </c:pt>
                <c:pt idx="22">
                  <c:v>5524</c:v>
                </c:pt>
                <c:pt idx="23">
                  <c:v>5369</c:v>
                </c:pt>
              </c:numCache>
            </c:numRef>
          </c:val>
          <c:smooth val="0"/>
        </c:ser>
        <c:marker val="1"/>
        <c:smooth val="0"/>
        <c:axId val="2118791784"/>
        <c:axId val="2140495176"/>
      </c:lineChart>
      <c:catAx>
        <c:axId val="2118791784"/>
        <c:scaling>
          <c:orientation val="minMax"/>
        </c:scaling>
        <c:delete val="0"/>
        <c:axPos val="b"/>
        <c:title>
          <c:tx>
            <c:rich>
              <a:bodyPr/>
              <a:lstStyle/>
              <a:p>
                <a:r>
                  <a:rPr sz="1100" b="0">
                    <a:solidFill>
                      <a:srgbClr val="4B5563"/>
                    </a:solidFill>
                    <a:latin typeface="Calibri"/>
                  </a:rPr>
                  <a:t>Pickup hour</a:t>
                </a:r>
              </a:p>
            </c:rich>
          </c:tx>
          <c:layout/>
          <c:overlay val="0"/>
        </c:title>
        <c:majorTickMark val="out"/>
        <c:minorTickMark val="none"/>
        <c:tickLblPos val="low"/>
        <c:spPr>
          <a:ln>
            <a:solidFill>
              <a:srgbClr val="B8C0CC"/>
            </a:solidFill>
          </a:ln>
        </c:spPr>
        <c:txPr>
          <a:bodyPr/>
          <a:lstStyle/>
          <a:p>
            <a:pPr>
              <a:defRPr sz="1100">
                <a:solidFill>
                  <a:srgbClr val="4B5563"/>
                </a:solidFill>
                <a:latin typeface="Calibri"/>
              </a:defRPr>
            </a:pPr>
          </a:p>
        </c:txPr>
        <c:crossAx val="2140495176"/>
        <c:crosses val="autoZero"/>
        <c:auto val="1"/>
        <c:lblAlgn val="ctr"/>
        <c:lblOffset val="50"/>
        <c:noMultiLvlLbl val="0"/>
      </c:catAx>
      <c:valAx>
        <c:axId val="2140495176"/>
        <c:scaling>
          <c:max val="10000.0"/>
          <c:min val="0.0"/>
        </c:scaling>
        <c:delete val="0"/>
        <c:axPos val="l"/>
        <c:majorGridlines>
          <c:spPr>
            <a:ln w="9525">
              <a:solidFill>
                <a:srgbClr val="E2E5EA"/>
              </a:solidFill>
            </a:ln>
          </c:spPr>
        </c:majorGridlines>
        <c:title>
          <c:tx>
            <c:rich>
              <a:bodyPr/>
              <a:lstStyle/>
              <a:p>
                <a:r>
                  <a:rPr sz="1100" b="0">
                    <a:solidFill>
                      <a:srgbClr val="4B5563"/>
                    </a:solidFill>
                    <a:latin typeface="Calibri"/>
                  </a:rPr>
                  <a:t>Average completed pickups per day</a:t>
                </a:r>
              </a:p>
            </c:rich>
          </c:tx>
          <c:layout/>
          <c:overlay val="0"/>
        </c:title>
        <c:numFmt formatCode="#,##0" sourceLinked="0"/>
        <c:majorTickMark val="out"/>
        <c:minorTickMark val="none"/>
        <c:tickLblPos val="nextTo"/>
        <c:spPr>
          <a:ln>
            <a:solidFill>
              <a:srgbClr val="B8C0CC"/>
            </a:solidFill>
          </a:ln>
        </c:spPr>
        <c:txPr>
          <a:bodyPr/>
          <a:lstStyle/>
          <a:p>
            <a:pPr>
              <a:defRPr sz="1100">
                <a:solidFill>
                  <a:srgbClr val="4B5563"/>
                </a:solidFill>
                <a:latin typeface="Calibri"/>
              </a:defRPr>
            </a:pPr>
          </a:p>
        </c:txPr>
        <c:crossAx val="2118791784"/>
        <c:crosses val="autoZero"/>
      </c:valAx>
    </c:plotArea>
    <c:legend>
      <c:legendPos val="t"/>
      <c:layout/>
      <c:overlay val="0"/>
      <c:txPr>
        <a:bodyPr/>
        <a:lstStyle/>
        <a:p>
          <a:pPr>
            <a:defRPr sz="1200">
              <a:solidFill>
                <a:srgbClr val="4B5563"/>
              </a:solidFill>
              <a:latin typeface="Calibri"/>
            </a:defRPr>
          </a:pPr>
        </a:p>
      </c:txPr>
    </c:legend>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02 Jan</c:v>
                </c:pt>
              </c:strCache>
            </c:strRef>
          </c:tx>
          <c:spPr>
            <a:ln w="12700">
              <a:solidFill>
                <a:srgbClr val="B8C0CC"/>
              </a:solidFill>
            </a:ln>
          </c:spPr>
          <c:marker>
            <c:symbol val="none"/>
          </c:marker>
          <c:cat>
            <c:strRef>
              <c:f>Sheet1!$A$2:$A$25</c:f>
              <c:strCach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Sheet1!$B$2:$B$25</c:f>
              <c:numCache>
                <c:formatCode>General</c:formatCode>
                <c:ptCount val="24"/>
                <c:pt idx="0">
                  <c:v>-2</c:v>
                </c:pt>
                <c:pt idx="1">
                  <c:v>-4</c:v>
                </c:pt>
                <c:pt idx="2">
                  <c:v>3</c:v>
                </c:pt>
                <c:pt idx="3">
                  <c:v>4</c:v>
                </c:pt>
                <c:pt idx="4">
                  <c:v>0</c:v>
                </c:pt>
                <c:pt idx="5">
                  <c:v>-10</c:v>
                </c:pt>
                <c:pt idx="6">
                  <c:v>-55</c:v>
                </c:pt>
                <c:pt idx="7">
                  <c:v>-91</c:v>
                </c:pt>
                <c:pt idx="8">
                  <c:v>-93</c:v>
                </c:pt>
                <c:pt idx="9">
                  <c:v>-119</c:v>
                </c:pt>
                <c:pt idx="10">
                  <c:v>-26</c:v>
                </c:pt>
                <c:pt idx="11">
                  <c:v>18</c:v>
                </c:pt>
                <c:pt idx="12">
                  <c:v>-17</c:v>
                </c:pt>
                <c:pt idx="13">
                  <c:v>-18</c:v>
                </c:pt>
                <c:pt idx="14">
                  <c:v>67</c:v>
                </c:pt>
                <c:pt idx="15">
                  <c:v>62</c:v>
                </c:pt>
                <c:pt idx="16">
                  <c:v>47</c:v>
                </c:pt>
                <c:pt idx="17">
                  <c:v>130</c:v>
                </c:pt>
                <c:pt idx="18">
                  <c:v>154</c:v>
                </c:pt>
                <c:pt idx="19">
                  <c:v>90</c:v>
                </c:pt>
                <c:pt idx="20">
                  <c:v>67</c:v>
                </c:pt>
                <c:pt idx="21">
                  <c:v>94</c:v>
                </c:pt>
                <c:pt idx="22">
                  <c:v>76</c:v>
                </c:pt>
                <c:pt idx="23">
                  <c:v>48</c:v>
                </c:pt>
              </c:numCache>
            </c:numRef>
          </c:val>
          <c:smooth val="0"/>
        </c:ser>
        <c:ser>
          <c:idx val="1"/>
          <c:order val="1"/>
          <c:tx>
            <c:strRef>
              <c:f>Sheet1!$C$1</c:f>
              <c:strCache>
                <c:ptCount val="1"/>
                <c:pt idx="0">
                  <c:v>03 Jan</c:v>
                </c:pt>
              </c:strCache>
            </c:strRef>
          </c:tx>
          <c:spPr>
            <a:ln w="12700">
              <a:solidFill>
                <a:srgbClr val="B8C0CC"/>
              </a:solidFill>
            </a:ln>
          </c:spPr>
          <c:marker>
            <c:symbol val="none"/>
          </c:marker>
          <c:cat>
            <c:strRef>
              <c:f>Sheet1!$A$2:$A$25</c:f>
              <c:strCach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Sheet1!$C$2:$C$25</c:f>
              <c:numCache>
                <c:formatCode>General</c:formatCode>
                <c:ptCount val="24"/>
                <c:pt idx="0">
                  <c:v>15</c:v>
                </c:pt>
                <c:pt idx="1">
                  <c:v>0</c:v>
                </c:pt>
                <c:pt idx="2">
                  <c:v>-4</c:v>
                </c:pt>
                <c:pt idx="3">
                  <c:v>6</c:v>
                </c:pt>
                <c:pt idx="4">
                  <c:v>3</c:v>
                </c:pt>
                <c:pt idx="5">
                  <c:v>-20</c:v>
                </c:pt>
                <c:pt idx="6">
                  <c:v>-50</c:v>
                </c:pt>
                <c:pt idx="7">
                  <c:v>-68</c:v>
                </c:pt>
                <c:pt idx="8">
                  <c:v>-86</c:v>
                </c:pt>
                <c:pt idx="9">
                  <c:v>-54</c:v>
                </c:pt>
                <c:pt idx="10">
                  <c:v>-23</c:v>
                </c:pt>
                <c:pt idx="11">
                  <c:v>25</c:v>
                </c:pt>
                <c:pt idx="12">
                  <c:v>-23</c:v>
                </c:pt>
                <c:pt idx="13">
                  <c:v>34</c:v>
                </c:pt>
                <c:pt idx="14">
                  <c:v>58</c:v>
                </c:pt>
                <c:pt idx="15">
                  <c:v>30</c:v>
                </c:pt>
                <c:pt idx="16">
                  <c:v>95</c:v>
                </c:pt>
                <c:pt idx="17">
                  <c:v>138</c:v>
                </c:pt>
                <c:pt idx="18">
                  <c:v>114</c:v>
                </c:pt>
                <c:pt idx="19">
                  <c:v>77</c:v>
                </c:pt>
                <c:pt idx="20">
                  <c:v>52</c:v>
                </c:pt>
                <c:pt idx="21">
                  <c:v>85</c:v>
                </c:pt>
                <c:pt idx="22">
                  <c:v>76</c:v>
                </c:pt>
                <c:pt idx="23">
                  <c:v>45</c:v>
                </c:pt>
              </c:numCache>
            </c:numRef>
          </c:val>
          <c:smooth val="0"/>
        </c:ser>
        <c:ser>
          <c:idx val="2"/>
          <c:order val="2"/>
          <c:tx>
            <c:strRef>
              <c:f>Sheet1!$D$1</c:f>
              <c:strCache>
                <c:ptCount val="1"/>
                <c:pt idx="0">
                  <c:v>06 Jan</c:v>
                </c:pt>
              </c:strCache>
            </c:strRef>
          </c:tx>
          <c:spPr>
            <a:ln w="12700">
              <a:solidFill>
                <a:srgbClr val="B8C0CC"/>
              </a:solidFill>
            </a:ln>
          </c:spPr>
          <c:marker>
            <c:symbol val="none"/>
          </c:marker>
          <c:cat>
            <c:strRef>
              <c:f>Sheet1!$A$2:$A$25</c:f>
              <c:strCach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Sheet1!$D$2:$D$25</c:f>
              <c:numCache>
                <c:formatCode>General</c:formatCode>
                <c:ptCount val="24"/>
                <c:pt idx="0">
                  <c:v>1</c:v>
                </c:pt>
                <c:pt idx="1">
                  <c:v>-2</c:v>
                </c:pt>
                <c:pt idx="2">
                  <c:v>3</c:v>
                </c:pt>
                <c:pt idx="3">
                  <c:v>1</c:v>
                </c:pt>
                <c:pt idx="4">
                  <c:v>-1</c:v>
                </c:pt>
                <c:pt idx="5">
                  <c:v>-34</c:v>
                </c:pt>
                <c:pt idx="6">
                  <c:v>-92</c:v>
                </c:pt>
                <c:pt idx="7">
                  <c:v>-216</c:v>
                </c:pt>
                <c:pt idx="8">
                  <c:v>-255</c:v>
                </c:pt>
                <c:pt idx="9">
                  <c:v>-133</c:v>
                </c:pt>
                <c:pt idx="10">
                  <c:v>-59</c:v>
                </c:pt>
                <c:pt idx="11">
                  <c:v>-19</c:v>
                </c:pt>
                <c:pt idx="12">
                  <c:v>12</c:v>
                </c:pt>
                <c:pt idx="13">
                  <c:v>40</c:v>
                </c:pt>
                <c:pt idx="14">
                  <c:v>99</c:v>
                </c:pt>
                <c:pt idx="15">
                  <c:v>45</c:v>
                </c:pt>
                <c:pt idx="16">
                  <c:v>112</c:v>
                </c:pt>
                <c:pt idx="17">
                  <c:v>213</c:v>
                </c:pt>
                <c:pt idx="18">
                  <c:v>342</c:v>
                </c:pt>
                <c:pt idx="19">
                  <c:v>283</c:v>
                </c:pt>
                <c:pt idx="20">
                  <c:v>274</c:v>
                </c:pt>
                <c:pt idx="21">
                  <c:v>143</c:v>
                </c:pt>
                <c:pt idx="22">
                  <c:v>47</c:v>
                </c:pt>
                <c:pt idx="23">
                  <c:v>26</c:v>
                </c:pt>
              </c:numCache>
            </c:numRef>
          </c:val>
          <c:smooth val="0"/>
        </c:ser>
        <c:ser>
          <c:idx val="3"/>
          <c:order val="3"/>
          <c:tx>
            <c:strRef>
              <c:f>Sheet1!$E$1</c:f>
              <c:strCache>
                <c:ptCount val="1"/>
                <c:pt idx="0">
                  <c:v>07 Jan</c:v>
                </c:pt>
              </c:strCache>
            </c:strRef>
          </c:tx>
          <c:spPr>
            <a:ln w="12700">
              <a:solidFill>
                <a:srgbClr val="B8C0CC"/>
              </a:solidFill>
            </a:ln>
          </c:spPr>
          <c:marker>
            <c:symbol val="none"/>
          </c:marker>
          <c:cat>
            <c:strRef>
              <c:f>Sheet1!$A$2:$A$25</c:f>
              <c:strCach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Sheet1!$E$2:$E$25</c:f>
              <c:numCache>
                <c:formatCode>General</c:formatCode>
                <c:ptCount val="24"/>
                <c:pt idx="0">
                  <c:v>0</c:v>
                </c:pt>
                <c:pt idx="1">
                  <c:v>3</c:v>
                </c:pt>
                <c:pt idx="2">
                  <c:v>1</c:v>
                </c:pt>
                <c:pt idx="3">
                  <c:v>-4</c:v>
                </c:pt>
                <c:pt idx="4">
                  <c:v>1</c:v>
                </c:pt>
                <c:pt idx="5">
                  <c:v>-27</c:v>
                </c:pt>
                <c:pt idx="6">
                  <c:v>-104</c:v>
                </c:pt>
                <c:pt idx="7">
                  <c:v>-244</c:v>
                </c:pt>
                <c:pt idx="8">
                  <c:v>-254</c:v>
                </c:pt>
                <c:pt idx="9">
                  <c:v>-240</c:v>
                </c:pt>
                <c:pt idx="10">
                  <c:v>-149</c:v>
                </c:pt>
                <c:pt idx="11">
                  <c:v>-37</c:v>
                </c:pt>
                <c:pt idx="12">
                  <c:v>12</c:v>
                </c:pt>
                <c:pt idx="13">
                  <c:v>31</c:v>
                </c:pt>
                <c:pt idx="14">
                  <c:v>73</c:v>
                </c:pt>
                <c:pt idx="15">
                  <c:v>111</c:v>
                </c:pt>
                <c:pt idx="16">
                  <c:v>166</c:v>
                </c:pt>
                <c:pt idx="17">
                  <c:v>304</c:v>
                </c:pt>
                <c:pt idx="18">
                  <c:v>415</c:v>
                </c:pt>
                <c:pt idx="19">
                  <c:v>363</c:v>
                </c:pt>
                <c:pt idx="20">
                  <c:v>507</c:v>
                </c:pt>
                <c:pt idx="21">
                  <c:v>405</c:v>
                </c:pt>
                <c:pt idx="22">
                  <c:v>115</c:v>
                </c:pt>
                <c:pt idx="23">
                  <c:v>59</c:v>
                </c:pt>
              </c:numCache>
            </c:numRef>
          </c:val>
          <c:smooth val="0"/>
        </c:ser>
        <c:ser>
          <c:idx val="4"/>
          <c:order val="4"/>
          <c:tx>
            <c:strRef>
              <c:f>Sheet1!$F$1</c:f>
              <c:strCache>
                <c:ptCount val="1"/>
                <c:pt idx="0">
                  <c:v>08 Jan</c:v>
                </c:pt>
              </c:strCache>
            </c:strRef>
          </c:tx>
          <c:spPr>
            <a:ln w="12700">
              <a:solidFill>
                <a:srgbClr val="B8C0CC"/>
              </a:solidFill>
            </a:ln>
          </c:spPr>
          <c:marker>
            <c:symbol val="none"/>
          </c:marker>
          <c:cat>
            <c:strRef>
              <c:f>Sheet1!$A$2:$A$25</c:f>
              <c:strCach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Sheet1!$F$2:$F$25</c:f>
              <c:numCache>
                <c:formatCode>General</c:formatCode>
                <c:ptCount val="24"/>
                <c:pt idx="0">
                  <c:v>-1</c:v>
                </c:pt>
                <c:pt idx="1">
                  <c:v>7</c:v>
                </c:pt>
                <c:pt idx="2">
                  <c:v>3</c:v>
                </c:pt>
                <c:pt idx="3">
                  <c:v>0</c:v>
                </c:pt>
                <c:pt idx="4">
                  <c:v>-2</c:v>
                </c:pt>
                <c:pt idx="5">
                  <c:v>-33</c:v>
                </c:pt>
                <c:pt idx="6">
                  <c:v>-109</c:v>
                </c:pt>
                <c:pt idx="7">
                  <c:v>-247</c:v>
                </c:pt>
                <c:pt idx="8">
                  <c:v>-317</c:v>
                </c:pt>
                <c:pt idx="9">
                  <c:v>-302</c:v>
                </c:pt>
                <c:pt idx="10">
                  <c:v>-130</c:v>
                </c:pt>
                <c:pt idx="11">
                  <c:v>-30</c:v>
                </c:pt>
                <c:pt idx="12">
                  <c:v>-20</c:v>
                </c:pt>
                <c:pt idx="13">
                  <c:v>55</c:v>
                </c:pt>
                <c:pt idx="14">
                  <c:v>56</c:v>
                </c:pt>
                <c:pt idx="15">
                  <c:v>113</c:v>
                </c:pt>
                <c:pt idx="16">
                  <c:v>217</c:v>
                </c:pt>
                <c:pt idx="17">
                  <c:v>388</c:v>
                </c:pt>
                <c:pt idx="18">
                  <c:v>484</c:v>
                </c:pt>
                <c:pt idx="19">
                  <c:v>478</c:v>
                </c:pt>
                <c:pt idx="20">
                  <c:v>489</c:v>
                </c:pt>
                <c:pt idx="21">
                  <c:v>444</c:v>
                </c:pt>
                <c:pt idx="22">
                  <c:v>183</c:v>
                </c:pt>
                <c:pt idx="23">
                  <c:v>94</c:v>
                </c:pt>
              </c:numCache>
            </c:numRef>
          </c:val>
          <c:smooth val="0"/>
        </c:ser>
        <c:ser>
          <c:idx val="5"/>
          <c:order val="5"/>
          <c:tx>
            <c:strRef>
              <c:f>Sheet1!$G$1</c:f>
              <c:strCache>
                <c:ptCount val="1"/>
                <c:pt idx="0">
                  <c:v>09 Jan</c:v>
                </c:pt>
              </c:strCache>
            </c:strRef>
          </c:tx>
          <c:spPr>
            <a:ln w="12700">
              <a:solidFill>
                <a:srgbClr val="B8C0CC"/>
              </a:solidFill>
            </a:ln>
          </c:spPr>
          <c:marker>
            <c:symbol val="none"/>
          </c:marker>
          <c:cat>
            <c:strRef>
              <c:f>Sheet1!$A$2:$A$25</c:f>
              <c:strCach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Sheet1!$G$2:$G$25</c:f>
              <c:numCache>
                <c:formatCode>General</c:formatCode>
                <c:ptCount val="24"/>
                <c:pt idx="0">
                  <c:v>16</c:v>
                </c:pt>
                <c:pt idx="1">
                  <c:v>8</c:v>
                </c:pt>
                <c:pt idx="2">
                  <c:v>-2</c:v>
                </c:pt>
                <c:pt idx="3">
                  <c:v>4</c:v>
                </c:pt>
                <c:pt idx="4">
                  <c:v>-2</c:v>
                </c:pt>
                <c:pt idx="5">
                  <c:v>-37</c:v>
                </c:pt>
                <c:pt idx="6">
                  <c:v>-89</c:v>
                </c:pt>
                <c:pt idx="7">
                  <c:v>-231</c:v>
                </c:pt>
                <c:pt idx="8">
                  <c:v>-311</c:v>
                </c:pt>
                <c:pt idx="9">
                  <c:v>-264</c:v>
                </c:pt>
                <c:pt idx="10">
                  <c:v>-97</c:v>
                </c:pt>
                <c:pt idx="11">
                  <c:v>-40</c:v>
                </c:pt>
                <c:pt idx="12">
                  <c:v>35</c:v>
                </c:pt>
                <c:pt idx="13">
                  <c:v>42</c:v>
                </c:pt>
                <c:pt idx="14">
                  <c:v>65</c:v>
                </c:pt>
                <c:pt idx="15">
                  <c:v>188</c:v>
                </c:pt>
                <c:pt idx="16">
                  <c:v>149</c:v>
                </c:pt>
                <c:pt idx="17">
                  <c:v>248</c:v>
                </c:pt>
                <c:pt idx="18">
                  <c:v>317</c:v>
                </c:pt>
                <c:pt idx="19">
                  <c:v>397</c:v>
                </c:pt>
                <c:pt idx="20">
                  <c:v>453</c:v>
                </c:pt>
                <c:pt idx="21">
                  <c:v>397</c:v>
                </c:pt>
                <c:pt idx="22">
                  <c:v>269</c:v>
                </c:pt>
                <c:pt idx="23">
                  <c:v>149</c:v>
                </c:pt>
              </c:numCache>
            </c:numRef>
          </c:val>
          <c:smooth val="0"/>
        </c:ser>
        <c:ser>
          <c:idx val="6"/>
          <c:order val="6"/>
          <c:tx>
            <c:strRef>
              <c:f>Sheet1!$H$1</c:f>
              <c:strCache>
                <c:ptCount val="1"/>
                <c:pt idx="0">
                  <c:v>10 Jan</c:v>
                </c:pt>
              </c:strCache>
            </c:strRef>
          </c:tx>
          <c:spPr>
            <a:ln w="12700">
              <a:solidFill>
                <a:srgbClr val="B8C0CC"/>
              </a:solidFill>
            </a:ln>
          </c:spPr>
          <c:marker>
            <c:symbol val="none"/>
          </c:marker>
          <c:cat>
            <c:strRef>
              <c:f>Sheet1!$A$2:$A$25</c:f>
              <c:strCach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Sheet1!$H$2:$H$25</c:f>
              <c:numCache>
                <c:formatCode>General</c:formatCode>
                <c:ptCount val="24"/>
                <c:pt idx="0">
                  <c:v>22</c:v>
                </c:pt>
                <c:pt idx="1">
                  <c:v>5</c:v>
                </c:pt>
                <c:pt idx="2">
                  <c:v>-5</c:v>
                </c:pt>
                <c:pt idx="3">
                  <c:v>-2</c:v>
                </c:pt>
                <c:pt idx="4">
                  <c:v>-3</c:v>
                </c:pt>
                <c:pt idx="5">
                  <c:v>-40</c:v>
                </c:pt>
                <c:pt idx="6">
                  <c:v>-93</c:v>
                </c:pt>
                <c:pt idx="7">
                  <c:v>-216</c:v>
                </c:pt>
                <c:pt idx="8">
                  <c:v>-238</c:v>
                </c:pt>
                <c:pt idx="9">
                  <c:v>-166</c:v>
                </c:pt>
                <c:pt idx="10">
                  <c:v>-51</c:v>
                </c:pt>
                <c:pt idx="11">
                  <c:v>14</c:v>
                </c:pt>
                <c:pt idx="12">
                  <c:v>-16</c:v>
                </c:pt>
                <c:pt idx="13">
                  <c:v>33</c:v>
                </c:pt>
                <c:pt idx="14">
                  <c:v>99</c:v>
                </c:pt>
                <c:pt idx="15">
                  <c:v>92</c:v>
                </c:pt>
                <c:pt idx="16">
                  <c:v>206</c:v>
                </c:pt>
                <c:pt idx="17">
                  <c:v>254</c:v>
                </c:pt>
                <c:pt idx="18">
                  <c:v>289</c:v>
                </c:pt>
                <c:pt idx="19">
                  <c:v>184</c:v>
                </c:pt>
                <c:pt idx="20">
                  <c:v>136</c:v>
                </c:pt>
                <c:pt idx="21">
                  <c:v>106</c:v>
                </c:pt>
                <c:pt idx="22">
                  <c:v>50</c:v>
                </c:pt>
                <c:pt idx="23">
                  <c:v>53</c:v>
                </c:pt>
              </c:numCache>
            </c:numRef>
          </c:val>
          <c:smooth val="0"/>
        </c:ser>
        <c:ser>
          <c:idx val="7"/>
          <c:order val="7"/>
          <c:tx>
            <c:strRef>
              <c:f>Sheet1!$I$1</c:f>
              <c:strCache>
                <c:ptCount val="1"/>
                <c:pt idx="0">
                  <c:v>13 Jan</c:v>
                </c:pt>
              </c:strCache>
            </c:strRef>
          </c:tx>
          <c:spPr>
            <a:ln w="12700">
              <a:solidFill>
                <a:srgbClr val="B8C0CC"/>
              </a:solidFill>
            </a:ln>
          </c:spPr>
          <c:marker>
            <c:symbol val="none"/>
          </c:marker>
          <c:cat>
            <c:strRef>
              <c:f>Sheet1!$A$2:$A$25</c:f>
              <c:strCach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Sheet1!$I$2:$I$25</c:f>
              <c:numCache>
                <c:formatCode>General</c:formatCode>
                <c:ptCount val="24"/>
                <c:pt idx="0">
                  <c:v>-6</c:v>
                </c:pt>
                <c:pt idx="1">
                  <c:v>0</c:v>
                </c:pt>
                <c:pt idx="2">
                  <c:v>3</c:v>
                </c:pt>
                <c:pt idx="3">
                  <c:v>1</c:v>
                </c:pt>
                <c:pt idx="4">
                  <c:v>0</c:v>
                </c:pt>
                <c:pt idx="5">
                  <c:v>-34</c:v>
                </c:pt>
                <c:pt idx="6">
                  <c:v>-110</c:v>
                </c:pt>
                <c:pt idx="7">
                  <c:v>-263</c:v>
                </c:pt>
                <c:pt idx="8">
                  <c:v>-292</c:v>
                </c:pt>
                <c:pt idx="9">
                  <c:v>-202</c:v>
                </c:pt>
                <c:pt idx="10">
                  <c:v>-87</c:v>
                </c:pt>
                <c:pt idx="11">
                  <c:v>-15</c:v>
                </c:pt>
                <c:pt idx="12">
                  <c:v>10</c:v>
                </c:pt>
                <c:pt idx="13">
                  <c:v>42</c:v>
                </c:pt>
                <c:pt idx="14">
                  <c:v>8</c:v>
                </c:pt>
                <c:pt idx="15">
                  <c:v>84</c:v>
                </c:pt>
                <c:pt idx="16">
                  <c:v>151</c:v>
                </c:pt>
                <c:pt idx="17">
                  <c:v>257</c:v>
                </c:pt>
                <c:pt idx="18">
                  <c:v>384</c:v>
                </c:pt>
                <c:pt idx="19">
                  <c:v>297</c:v>
                </c:pt>
                <c:pt idx="20">
                  <c:v>388</c:v>
                </c:pt>
                <c:pt idx="21">
                  <c:v>307</c:v>
                </c:pt>
                <c:pt idx="22">
                  <c:v>89</c:v>
                </c:pt>
                <c:pt idx="23">
                  <c:v>45</c:v>
                </c:pt>
              </c:numCache>
            </c:numRef>
          </c:val>
          <c:smooth val="0"/>
        </c:ser>
        <c:ser>
          <c:idx val="8"/>
          <c:order val="8"/>
          <c:tx>
            <c:strRef>
              <c:f>Sheet1!$J$1</c:f>
              <c:strCache>
                <c:ptCount val="1"/>
                <c:pt idx="0">
                  <c:v>14 Jan</c:v>
                </c:pt>
              </c:strCache>
            </c:strRef>
          </c:tx>
          <c:spPr>
            <a:ln w="12700">
              <a:solidFill>
                <a:srgbClr val="B8C0CC"/>
              </a:solidFill>
            </a:ln>
          </c:spPr>
          <c:marker>
            <c:symbol val="none"/>
          </c:marker>
          <c:cat>
            <c:strRef>
              <c:f>Sheet1!$A$2:$A$25</c:f>
              <c:strCach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Sheet1!$J$2:$J$25</c:f>
              <c:numCache>
                <c:formatCode>General</c:formatCode>
                <c:ptCount val="24"/>
                <c:pt idx="0">
                  <c:v>15</c:v>
                </c:pt>
                <c:pt idx="1">
                  <c:v>5</c:v>
                </c:pt>
                <c:pt idx="2">
                  <c:v>1</c:v>
                </c:pt>
                <c:pt idx="3">
                  <c:v>1</c:v>
                </c:pt>
                <c:pt idx="4">
                  <c:v>-2</c:v>
                </c:pt>
                <c:pt idx="5">
                  <c:v>-21</c:v>
                </c:pt>
                <c:pt idx="6">
                  <c:v>-102</c:v>
                </c:pt>
                <c:pt idx="7">
                  <c:v>-239</c:v>
                </c:pt>
                <c:pt idx="8">
                  <c:v>-303</c:v>
                </c:pt>
                <c:pt idx="9">
                  <c:v>-278</c:v>
                </c:pt>
                <c:pt idx="10">
                  <c:v>-105</c:v>
                </c:pt>
                <c:pt idx="11">
                  <c:v>-58</c:v>
                </c:pt>
                <c:pt idx="12">
                  <c:v>-43</c:v>
                </c:pt>
                <c:pt idx="13">
                  <c:v>88</c:v>
                </c:pt>
                <c:pt idx="14">
                  <c:v>109</c:v>
                </c:pt>
                <c:pt idx="15">
                  <c:v>146</c:v>
                </c:pt>
                <c:pt idx="16">
                  <c:v>186</c:v>
                </c:pt>
                <c:pt idx="17">
                  <c:v>424</c:v>
                </c:pt>
                <c:pt idx="18">
                  <c:v>447</c:v>
                </c:pt>
                <c:pt idx="19">
                  <c:v>420</c:v>
                </c:pt>
                <c:pt idx="20">
                  <c:v>517</c:v>
                </c:pt>
                <c:pt idx="21">
                  <c:v>413</c:v>
                </c:pt>
                <c:pt idx="22">
                  <c:v>209</c:v>
                </c:pt>
                <c:pt idx="23">
                  <c:v>71</c:v>
                </c:pt>
              </c:numCache>
            </c:numRef>
          </c:val>
          <c:smooth val="0"/>
        </c:ser>
        <c:ser>
          <c:idx val="9"/>
          <c:order val="9"/>
          <c:tx>
            <c:strRef>
              <c:f>Sheet1!$K$1</c:f>
              <c:strCache>
                <c:ptCount val="1"/>
                <c:pt idx="0">
                  <c:v>15 Jan</c:v>
                </c:pt>
              </c:strCache>
            </c:strRef>
          </c:tx>
          <c:spPr>
            <a:ln w="12700">
              <a:solidFill>
                <a:srgbClr val="B8C0CC"/>
              </a:solidFill>
            </a:ln>
          </c:spPr>
          <c:marker>
            <c:symbol val="none"/>
          </c:marker>
          <c:cat>
            <c:strRef>
              <c:f>Sheet1!$A$2:$A$25</c:f>
              <c:strCach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Sheet1!$K$2:$K$25</c:f>
              <c:numCache>
                <c:formatCode>General</c:formatCode>
                <c:ptCount val="24"/>
                <c:pt idx="0">
                  <c:v>24</c:v>
                </c:pt>
                <c:pt idx="1">
                  <c:v>4</c:v>
                </c:pt>
                <c:pt idx="2">
                  <c:v>-2</c:v>
                </c:pt>
                <c:pt idx="3">
                  <c:v>3</c:v>
                </c:pt>
                <c:pt idx="4">
                  <c:v>3</c:v>
                </c:pt>
                <c:pt idx="5">
                  <c:v>-37</c:v>
                </c:pt>
                <c:pt idx="6">
                  <c:v>-119</c:v>
                </c:pt>
                <c:pt idx="7">
                  <c:v>-314</c:v>
                </c:pt>
                <c:pt idx="8">
                  <c:v>-482</c:v>
                </c:pt>
                <c:pt idx="9">
                  <c:v>-350</c:v>
                </c:pt>
                <c:pt idx="10">
                  <c:v>-148</c:v>
                </c:pt>
                <c:pt idx="11">
                  <c:v>-27</c:v>
                </c:pt>
                <c:pt idx="12">
                  <c:v>-41</c:v>
                </c:pt>
                <c:pt idx="13">
                  <c:v>45</c:v>
                </c:pt>
                <c:pt idx="14">
                  <c:v>143</c:v>
                </c:pt>
                <c:pt idx="15">
                  <c:v>180</c:v>
                </c:pt>
                <c:pt idx="16">
                  <c:v>286</c:v>
                </c:pt>
                <c:pt idx="17">
                  <c:v>349</c:v>
                </c:pt>
                <c:pt idx="18">
                  <c:v>507</c:v>
                </c:pt>
                <c:pt idx="19">
                  <c:v>448</c:v>
                </c:pt>
                <c:pt idx="20">
                  <c:v>575</c:v>
                </c:pt>
                <c:pt idx="21">
                  <c:v>542</c:v>
                </c:pt>
                <c:pt idx="22">
                  <c:v>214</c:v>
                </c:pt>
                <c:pt idx="23">
                  <c:v>109</c:v>
                </c:pt>
              </c:numCache>
            </c:numRef>
          </c:val>
          <c:smooth val="0"/>
        </c:ser>
        <c:ser>
          <c:idx val="10"/>
          <c:order val="10"/>
          <c:tx>
            <c:strRef>
              <c:f>Sheet1!$L$1</c:f>
              <c:strCache>
                <c:ptCount val="1"/>
                <c:pt idx="0">
                  <c:v>16 Jan</c:v>
                </c:pt>
              </c:strCache>
            </c:strRef>
          </c:tx>
          <c:spPr>
            <a:ln w="12700">
              <a:solidFill>
                <a:srgbClr val="B8C0CC"/>
              </a:solidFill>
            </a:ln>
          </c:spPr>
          <c:marker>
            <c:symbol val="none"/>
          </c:marker>
          <c:cat>
            <c:strRef>
              <c:f>Sheet1!$A$2:$A$25</c:f>
              <c:strCach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Sheet1!$L$2:$L$25</c:f>
              <c:numCache>
                <c:formatCode>General</c:formatCode>
                <c:ptCount val="24"/>
                <c:pt idx="0">
                  <c:v>157</c:v>
                </c:pt>
                <c:pt idx="1">
                  <c:v>8</c:v>
                </c:pt>
                <c:pt idx="2">
                  <c:v>4</c:v>
                </c:pt>
                <c:pt idx="3">
                  <c:v>0</c:v>
                </c:pt>
                <c:pt idx="4">
                  <c:v>0</c:v>
                </c:pt>
                <c:pt idx="5">
                  <c:v>-31</c:v>
                </c:pt>
                <c:pt idx="6">
                  <c:v>-122</c:v>
                </c:pt>
                <c:pt idx="7">
                  <c:v>-299</c:v>
                </c:pt>
                <c:pt idx="8">
                  <c:v>-390</c:v>
                </c:pt>
                <c:pt idx="9">
                  <c:v>-303</c:v>
                </c:pt>
                <c:pt idx="10">
                  <c:v>-114</c:v>
                </c:pt>
                <c:pt idx="11">
                  <c:v>-18</c:v>
                </c:pt>
                <c:pt idx="12">
                  <c:v>14</c:v>
                </c:pt>
                <c:pt idx="13">
                  <c:v>135</c:v>
                </c:pt>
                <c:pt idx="14">
                  <c:v>144</c:v>
                </c:pt>
                <c:pt idx="15">
                  <c:v>121</c:v>
                </c:pt>
                <c:pt idx="16">
                  <c:v>237</c:v>
                </c:pt>
                <c:pt idx="17">
                  <c:v>396</c:v>
                </c:pt>
                <c:pt idx="18">
                  <c:v>228</c:v>
                </c:pt>
                <c:pt idx="19">
                  <c:v>361</c:v>
                </c:pt>
                <c:pt idx="20">
                  <c:v>516</c:v>
                </c:pt>
                <c:pt idx="21">
                  <c:v>536</c:v>
                </c:pt>
                <c:pt idx="22">
                  <c:v>427</c:v>
                </c:pt>
                <c:pt idx="23">
                  <c:v>121</c:v>
                </c:pt>
              </c:numCache>
            </c:numRef>
          </c:val>
          <c:smooth val="0"/>
        </c:ser>
        <c:ser>
          <c:idx val="11"/>
          <c:order val="11"/>
          <c:tx>
            <c:strRef>
              <c:f>Sheet1!$M$1</c:f>
              <c:strCache>
                <c:ptCount val="1"/>
                <c:pt idx="0">
                  <c:v>17 Jan</c:v>
                </c:pt>
              </c:strCache>
            </c:strRef>
          </c:tx>
          <c:spPr>
            <a:ln w="12700">
              <a:solidFill>
                <a:srgbClr val="B8C0CC"/>
              </a:solidFill>
            </a:ln>
          </c:spPr>
          <c:marker>
            <c:symbol val="none"/>
          </c:marker>
          <c:cat>
            <c:strRef>
              <c:f>Sheet1!$A$2:$A$25</c:f>
              <c:strCach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Sheet1!$M$2:$M$25</c:f>
              <c:numCache>
                <c:formatCode>General</c:formatCode>
                <c:ptCount val="24"/>
                <c:pt idx="0">
                  <c:v>42</c:v>
                </c:pt>
                <c:pt idx="1">
                  <c:v>-6</c:v>
                </c:pt>
                <c:pt idx="2">
                  <c:v>7</c:v>
                </c:pt>
                <c:pt idx="3">
                  <c:v>0</c:v>
                </c:pt>
                <c:pt idx="4">
                  <c:v>-1</c:v>
                </c:pt>
                <c:pt idx="5">
                  <c:v>-35</c:v>
                </c:pt>
                <c:pt idx="6">
                  <c:v>-94</c:v>
                </c:pt>
                <c:pt idx="7">
                  <c:v>-237</c:v>
                </c:pt>
                <c:pt idx="8">
                  <c:v>-274</c:v>
                </c:pt>
                <c:pt idx="9">
                  <c:v>-191</c:v>
                </c:pt>
                <c:pt idx="10">
                  <c:v>-70</c:v>
                </c:pt>
                <c:pt idx="11">
                  <c:v>-14</c:v>
                </c:pt>
                <c:pt idx="12">
                  <c:v>-13</c:v>
                </c:pt>
                <c:pt idx="13">
                  <c:v>31</c:v>
                </c:pt>
                <c:pt idx="14">
                  <c:v>100</c:v>
                </c:pt>
                <c:pt idx="15">
                  <c:v>107</c:v>
                </c:pt>
                <c:pt idx="16">
                  <c:v>184</c:v>
                </c:pt>
                <c:pt idx="17">
                  <c:v>212</c:v>
                </c:pt>
                <c:pt idx="18">
                  <c:v>195</c:v>
                </c:pt>
                <c:pt idx="19">
                  <c:v>80</c:v>
                </c:pt>
                <c:pt idx="20">
                  <c:v>112</c:v>
                </c:pt>
                <c:pt idx="21">
                  <c:v>90</c:v>
                </c:pt>
                <c:pt idx="22">
                  <c:v>225</c:v>
                </c:pt>
                <c:pt idx="23">
                  <c:v>107</c:v>
                </c:pt>
              </c:numCache>
            </c:numRef>
          </c:val>
          <c:smooth val="0"/>
        </c:ser>
        <c:ser>
          <c:idx val="12"/>
          <c:order val="12"/>
          <c:tx>
            <c:strRef>
              <c:f>Sheet1!$N$1</c:f>
              <c:strCache>
                <c:ptCount val="1"/>
                <c:pt idx="0">
                  <c:v>21 Jan</c:v>
                </c:pt>
              </c:strCache>
            </c:strRef>
          </c:tx>
          <c:spPr>
            <a:ln w="12700">
              <a:solidFill>
                <a:srgbClr val="B8C0CC"/>
              </a:solidFill>
            </a:ln>
          </c:spPr>
          <c:marker>
            <c:symbol val="none"/>
          </c:marker>
          <c:cat>
            <c:strRef>
              <c:f>Sheet1!$A$2:$A$25</c:f>
              <c:strCach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Sheet1!$N$2:$N$25</c:f>
              <c:numCache>
                <c:formatCode>General</c:formatCode>
                <c:ptCount val="24"/>
                <c:pt idx="0">
                  <c:v>-2</c:v>
                </c:pt>
                <c:pt idx="1">
                  <c:v>-5</c:v>
                </c:pt>
                <c:pt idx="2">
                  <c:v>-1</c:v>
                </c:pt>
                <c:pt idx="3">
                  <c:v>0</c:v>
                </c:pt>
                <c:pt idx="4">
                  <c:v>-4</c:v>
                </c:pt>
                <c:pt idx="5">
                  <c:v>-56</c:v>
                </c:pt>
                <c:pt idx="6">
                  <c:v>-139</c:v>
                </c:pt>
                <c:pt idx="7">
                  <c:v>-319</c:v>
                </c:pt>
                <c:pt idx="8">
                  <c:v>-419</c:v>
                </c:pt>
                <c:pt idx="9">
                  <c:v>-338</c:v>
                </c:pt>
                <c:pt idx="10">
                  <c:v>-157</c:v>
                </c:pt>
                <c:pt idx="11">
                  <c:v>-77</c:v>
                </c:pt>
                <c:pt idx="12">
                  <c:v>-54</c:v>
                </c:pt>
                <c:pt idx="13">
                  <c:v>-20</c:v>
                </c:pt>
                <c:pt idx="14">
                  <c:v>163</c:v>
                </c:pt>
                <c:pt idx="15">
                  <c:v>116</c:v>
                </c:pt>
                <c:pt idx="16">
                  <c:v>188</c:v>
                </c:pt>
                <c:pt idx="17">
                  <c:v>388</c:v>
                </c:pt>
                <c:pt idx="18">
                  <c:v>515</c:v>
                </c:pt>
                <c:pt idx="19">
                  <c:v>491</c:v>
                </c:pt>
                <c:pt idx="20">
                  <c:v>592</c:v>
                </c:pt>
                <c:pt idx="21">
                  <c:v>449</c:v>
                </c:pt>
                <c:pt idx="22">
                  <c:v>260</c:v>
                </c:pt>
                <c:pt idx="23">
                  <c:v>87</c:v>
                </c:pt>
              </c:numCache>
            </c:numRef>
          </c:val>
          <c:smooth val="0"/>
        </c:ser>
        <c:ser>
          <c:idx val="13"/>
          <c:order val="13"/>
          <c:tx>
            <c:strRef>
              <c:f>Sheet1!$O$1</c:f>
              <c:strCache>
                <c:ptCount val="1"/>
                <c:pt idx="0">
                  <c:v>22 Jan</c:v>
                </c:pt>
              </c:strCache>
            </c:strRef>
          </c:tx>
          <c:spPr>
            <a:ln w="12700">
              <a:solidFill>
                <a:srgbClr val="B8C0CC"/>
              </a:solidFill>
            </a:ln>
          </c:spPr>
          <c:marker>
            <c:symbol val="none"/>
          </c:marker>
          <c:cat>
            <c:strRef>
              <c:f>Sheet1!$A$2:$A$25</c:f>
              <c:strCach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Sheet1!$O$2:$O$25</c:f>
              <c:numCache>
                <c:formatCode>General</c:formatCode>
                <c:ptCount val="24"/>
                <c:pt idx="0">
                  <c:v>18</c:v>
                </c:pt>
                <c:pt idx="1">
                  <c:v>7</c:v>
                </c:pt>
                <c:pt idx="2">
                  <c:v>0</c:v>
                </c:pt>
                <c:pt idx="3">
                  <c:v>-1</c:v>
                </c:pt>
                <c:pt idx="4">
                  <c:v>-1</c:v>
                </c:pt>
                <c:pt idx="5">
                  <c:v>-48</c:v>
                </c:pt>
                <c:pt idx="6">
                  <c:v>-129</c:v>
                </c:pt>
                <c:pt idx="7">
                  <c:v>-352</c:v>
                </c:pt>
                <c:pt idx="8">
                  <c:v>-424</c:v>
                </c:pt>
                <c:pt idx="9">
                  <c:v>-334</c:v>
                </c:pt>
                <c:pt idx="10">
                  <c:v>-158</c:v>
                </c:pt>
                <c:pt idx="11">
                  <c:v>-93</c:v>
                </c:pt>
                <c:pt idx="12">
                  <c:v>17</c:v>
                </c:pt>
                <c:pt idx="13">
                  <c:v>43</c:v>
                </c:pt>
                <c:pt idx="14">
                  <c:v>113</c:v>
                </c:pt>
                <c:pt idx="15">
                  <c:v>147</c:v>
                </c:pt>
                <c:pt idx="16">
                  <c:v>256</c:v>
                </c:pt>
                <c:pt idx="17">
                  <c:v>422</c:v>
                </c:pt>
                <c:pt idx="18">
                  <c:v>505</c:v>
                </c:pt>
                <c:pt idx="19">
                  <c:v>544</c:v>
                </c:pt>
                <c:pt idx="20">
                  <c:v>664</c:v>
                </c:pt>
                <c:pt idx="21">
                  <c:v>515</c:v>
                </c:pt>
                <c:pt idx="22">
                  <c:v>275</c:v>
                </c:pt>
                <c:pt idx="23">
                  <c:v>98</c:v>
                </c:pt>
              </c:numCache>
            </c:numRef>
          </c:val>
          <c:smooth val="0"/>
        </c:ser>
        <c:ser>
          <c:idx val="14"/>
          <c:order val="14"/>
          <c:tx>
            <c:strRef>
              <c:f>Sheet1!$P$1</c:f>
              <c:strCache>
                <c:ptCount val="1"/>
                <c:pt idx="0">
                  <c:v>23 Jan</c:v>
                </c:pt>
              </c:strCache>
            </c:strRef>
          </c:tx>
          <c:spPr>
            <a:ln w="12700">
              <a:solidFill>
                <a:srgbClr val="B8C0CC"/>
              </a:solidFill>
            </a:ln>
          </c:spPr>
          <c:marker>
            <c:symbol val="none"/>
          </c:marker>
          <c:cat>
            <c:strRef>
              <c:f>Sheet1!$A$2:$A$25</c:f>
              <c:strCach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Sheet1!$P$2:$P$25</c:f>
              <c:numCache>
                <c:formatCode>General</c:formatCode>
                <c:ptCount val="24"/>
                <c:pt idx="0">
                  <c:v>24</c:v>
                </c:pt>
                <c:pt idx="1">
                  <c:v>-2</c:v>
                </c:pt>
                <c:pt idx="2">
                  <c:v>10</c:v>
                </c:pt>
                <c:pt idx="3">
                  <c:v>3</c:v>
                </c:pt>
                <c:pt idx="4">
                  <c:v>3</c:v>
                </c:pt>
                <c:pt idx="5">
                  <c:v>-47</c:v>
                </c:pt>
                <c:pt idx="6">
                  <c:v>-128</c:v>
                </c:pt>
                <c:pt idx="7">
                  <c:v>-311</c:v>
                </c:pt>
                <c:pt idx="8">
                  <c:v>-405</c:v>
                </c:pt>
                <c:pt idx="9">
                  <c:v>-287</c:v>
                </c:pt>
                <c:pt idx="10">
                  <c:v>-102</c:v>
                </c:pt>
                <c:pt idx="11">
                  <c:v>-54</c:v>
                </c:pt>
                <c:pt idx="12">
                  <c:v>-60</c:v>
                </c:pt>
                <c:pt idx="13">
                  <c:v>40</c:v>
                </c:pt>
                <c:pt idx="14">
                  <c:v>130</c:v>
                </c:pt>
                <c:pt idx="15">
                  <c:v>138</c:v>
                </c:pt>
                <c:pt idx="16">
                  <c:v>279</c:v>
                </c:pt>
                <c:pt idx="17">
                  <c:v>421</c:v>
                </c:pt>
                <c:pt idx="18">
                  <c:v>495</c:v>
                </c:pt>
                <c:pt idx="19">
                  <c:v>550</c:v>
                </c:pt>
                <c:pt idx="20">
                  <c:v>597</c:v>
                </c:pt>
                <c:pt idx="21">
                  <c:v>482</c:v>
                </c:pt>
                <c:pt idx="22">
                  <c:v>341</c:v>
                </c:pt>
                <c:pt idx="23">
                  <c:v>141</c:v>
                </c:pt>
              </c:numCache>
            </c:numRef>
          </c:val>
          <c:smooth val="0"/>
        </c:ser>
        <c:ser>
          <c:idx val="15"/>
          <c:order val="15"/>
          <c:tx>
            <c:strRef>
              <c:f>Sheet1!$Q$1</c:f>
              <c:strCache>
                <c:ptCount val="1"/>
                <c:pt idx="0">
                  <c:v>24 Jan</c:v>
                </c:pt>
              </c:strCache>
            </c:strRef>
          </c:tx>
          <c:spPr>
            <a:ln w="12700">
              <a:solidFill>
                <a:srgbClr val="B8C0CC"/>
              </a:solidFill>
            </a:ln>
          </c:spPr>
          <c:marker>
            <c:symbol val="none"/>
          </c:marker>
          <c:cat>
            <c:strRef>
              <c:f>Sheet1!$A$2:$A$25</c:f>
              <c:strCach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Sheet1!$Q$2:$Q$25</c:f>
              <c:numCache>
                <c:formatCode>General</c:formatCode>
                <c:ptCount val="24"/>
                <c:pt idx="0">
                  <c:v>28</c:v>
                </c:pt>
                <c:pt idx="1">
                  <c:v>21</c:v>
                </c:pt>
                <c:pt idx="2">
                  <c:v>2</c:v>
                </c:pt>
                <c:pt idx="3">
                  <c:v>5</c:v>
                </c:pt>
                <c:pt idx="4">
                  <c:v>5</c:v>
                </c:pt>
                <c:pt idx="5">
                  <c:v>-30</c:v>
                </c:pt>
                <c:pt idx="6">
                  <c:v>-80</c:v>
                </c:pt>
                <c:pt idx="7">
                  <c:v>-207</c:v>
                </c:pt>
                <c:pt idx="8">
                  <c:v>-271</c:v>
                </c:pt>
                <c:pt idx="9">
                  <c:v>-160</c:v>
                </c:pt>
                <c:pt idx="10">
                  <c:v>-71</c:v>
                </c:pt>
                <c:pt idx="11">
                  <c:v>-19</c:v>
                </c:pt>
                <c:pt idx="12">
                  <c:v>15</c:v>
                </c:pt>
                <c:pt idx="13">
                  <c:v>81</c:v>
                </c:pt>
                <c:pt idx="14">
                  <c:v>103</c:v>
                </c:pt>
                <c:pt idx="15">
                  <c:v>155</c:v>
                </c:pt>
                <c:pt idx="16">
                  <c:v>203</c:v>
                </c:pt>
                <c:pt idx="17">
                  <c:v>306</c:v>
                </c:pt>
                <c:pt idx="18">
                  <c:v>186</c:v>
                </c:pt>
                <c:pt idx="19">
                  <c:v>154</c:v>
                </c:pt>
                <c:pt idx="20">
                  <c:v>172</c:v>
                </c:pt>
                <c:pt idx="21">
                  <c:v>171</c:v>
                </c:pt>
                <c:pt idx="22">
                  <c:v>311</c:v>
                </c:pt>
                <c:pt idx="23">
                  <c:v>90</c:v>
                </c:pt>
              </c:numCache>
            </c:numRef>
          </c:val>
          <c:smooth val="0"/>
        </c:ser>
        <c:ser>
          <c:idx val="16"/>
          <c:order val="16"/>
          <c:tx>
            <c:strRef>
              <c:f>Sheet1!$R$1</c:f>
              <c:strCache>
                <c:ptCount val="1"/>
                <c:pt idx="0">
                  <c:v>27 Jan</c:v>
                </c:pt>
              </c:strCache>
            </c:strRef>
          </c:tx>
          <c:spPr>
            <a:ln w="12700">
              <a:solidFill>
                <a:srgbClr val="B8C0CC"/>
              </a:solidFill>
            </a:ln>
          </c:spPr>
          <c:marker>
            <c:symbol val="none"/>
          </c:marker>
          <c:cat>
            <c:strRef>
              <c:f>Sheet1!$A$2:$A$25</c:f>
              <c:strCach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Sheet1!$R$2:$R$25</c:f>
              <c:numCache>
                <c:formatCode>General</c:formatCode>
                <c:ptCount val="24"/>
                <c:pt idx="0">
                  <c:v>1</c:v>
                </c:pt>
                <c:pt idx="1">
                  <c:v>-2</c:v>
                </c:pt>
                <c:pt idx="2">
                  <c:v>-2</c:v>
                </c:pt>
                <c:pt idx="3">
                  <c:v>-1</c:v>
                </c:pt>
                <c:pt idx="4">
                  <c:v>0</c:v>
                </c:pt>
                <c:pt idx="5">
                  <c:v>-59</c:v>
                </c:pt>
                <c:pt idx="6">
                  <c:v>-74</c:v>
                </c:pt>
                <c:pt idx="7">
                  <c:v>-234</c:v>
                </c:pt>
                <c:pt idx="8">
                  <c:v>-300</c:v>
                </c:pt>
                <c:pt idx="9">
                  <c:v>-221</c:v>
                </c:pt>
                <c:pt idx="10">
                  <c:v>-142</c:v>
                </c:pt>
                <c:pt idx="11">
                  <c:v>-68</c:v>
                </c:pt>
                <c:pt idx="12">
                  <c:v>13</c:v>
                </c:pt>
                <c:pt idx="13">
                  <c:v>44</c:v>
                </c:pt>
                <c:pt idx="14">
                  <c:v>100</c:v>
                </c:pt>
                <c:pt idx="15">
                  <c:v>105</c:v>
                </c:pt>
                <c:pt idx="16">
                  <c:v>171</c:v>
                </c:pt>
                <c:pt idx="17">
                  <c:v>275</c:v>
                </c:pt>
                <c:pt idx="18">
                  <c:v>343</c:v>
                </c:pt>
                <c:pt idx="19">
                  <c:v>364</c:v>
                </c:pt>
                <c:pt idx="20">
                  <c:v>388</c:v>
                </c:pt>
                <c:pt idx="21">
                  <c:v>341</c:v>
                </c:pt>
                <c:pt idx="22">
                  <c:v>150</c:v>
                </c:pt>
                <c:pt idx="23">
                  <c:v>17</c:v>
                </c:pt>
              </c:numCache>
            </c:numRef>
          </c:val>
          <c:smooth val="0"/>
        </c:ser>
        <c:ser>
          <c:idx val="17"/>
          <c:order val="17"/>
          <c:tx>
            <c:strRef>
              <c:f>Sheet1!$S$1</c:f>
              <c:strCache>
                <c:ptCount val="1"/>
                <c:pt idx="0">
                  <c:v>28 Jan</c:v>
                </c:pt>
              </c:strCache>
            </c:strRef>
          </c:tx>
          <c:spPr>
            <a:ln w="12700">
              <a:solidFill>
                <a:srgbClr val="B8C0CC"/>
              </a:solidFill>
            </a:ln>
          </c:spPr>
          <c:marker>
            <c:symbol val="none"/>
          </c:marker>
          <c:cat>
            <c:strRef>
              <c:f>Sheet1!$A$2:$A$25</c:f>
              <c:strCach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Sheet1!$S$2:$S$25</c:f>
              <c:numCache>
                <c:formatCode>General</c:formatCode>
                <c:ptCount val="24"/>
                <c:pt idx="0">
                  <c:v>26</c:v>
                </c:pt>
                <c:pt idx="1">
                  <c:v>10</c:v>
                </c:pt>
                <c:pt idx="2">
                  <c:v>5</c:v>
                </c:pt>
                <c:pt idx="3">
                  <c:v>1</c:v>
                </c:pt>
                <c:pt idx="4">
                  <c:v>5</c:v>
                </c:pt>
                <c:pt idx="5">
                  <c:v>-41</c:v>
                </c:pt>
                <c:pt idx="6">
                  <c:v>-99</c:v>
                </c:pt>
                <c:pt idx="7">
                  <c:v>-277</c:v>
                </c:pt>
                <c:pt idx="8">
                  <c:v>-321</c:v>
                </c:pt>
                <c:pt idx="9">
                  <c:v>-283</c:v>
                </c:pt>
                <c:pt idx="10">
                  <c:v>-165</c:v>
                </c:pt>
                <c:pt idx="11">
                  <c:v>-53</c:v>
                </c:pt>
                <c:pt idx="12">
                  <c:v>-21</c:v>
                </c:pt>
                <c:pt idx="13">
                  <c:v>83</c:v>
                </c:pt>
                <c:pt idx="14">
                  <c:v>65</c:v>
                </c:pt>
                <c:pt idx="15">
                  <c:v>123</c:v>
                </c:pt>
                <c:pt idx="16">
                  <c:v>204</c:v>
                </c:pt>
                <c:pt idx="17">
                  <c:v>373</c:v>
                </c:pt>
                <c:pt idx="18">
                  <c:v>487</c:v>
                </c:pt>
                <c:pt idx="19">
                  <c:v>457</c:v>
                </c:pt>
                <c:pt idx="20">
                  <c:v>585</c:v>
                </c:pt>
                <c:pt idx="21">
                  <c:v>501</c:v>
                </c:pt>
                <c:pt idx="22">
                  <c:v>291</c:v>
                </c:pt>
                <c:pt idx="23">
                  <c:v>101</c:v>
                </c:pt>
              </c:numCache>
            </c:numRef>
          </c:val>
          <c:smooth val="0"/>
        </c:ser>
        <c:ser>
          <c:idx val="18"/>
          <c:order val="18"/>
          <c:tx>
            <c:strRef>
              <c:f>Sheet1!$T$1</c:f>
              <c:strCache>
                <c:ptCount val="1"/>
                <c:pt idx="0">
                  <c:v>29 Jan</c:v>
                </c:pt>
              </c:strCache>
            </c:strRef>
          </c:tx>
          <c:spPr>
            <a:ln w="12700">
              <a:solidFill>
                <a:srgbClr val="B8C0CC"/>
              </a:solidFill>
            </a:ln>
          </c:spPr>
          <c:marker>
            <c:symbol val="none"/>
          </c:marker>
          <c:cat>
            <c:strRef>
              <c:f>Sheet1!$A$2:$A$25</c:f>
              <c:strCach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Sheet1!$T$2:$T$25</c:f>
              <c:numCache>
                <c:formatCode>General</c:formatCode>
                <c:ptCount val="24"/>
                <c:pt idx="0">
                  <c:v>28</c:v>
                </c:pt>
                <c:pt idx="1">
                  <c:v>3</c:v>
                </c:pt>
                <c:pt idx="2">
                  <c:v>-1</c:v>
                </c:pt>
                <c:pt idx="3">
                  <c:v>0</c:v>
                </c:pt>
                <c:pt idx="4">
                  <c:v>2</c:v>
                </c:pt>
                <c:pt idx="5">
                  <c:v>-51</c:v>
                </c:pt>
                <c:pt idx="6">
                  <c:v>-95</c:v>
                </c:pt>
                <c:pt idx="7">
                  <c:v>-242</c:v>
                </c:pt>
                <c:pt idx="8">
                  <c:v>-270</c:v>
                </c:pt>
                <c:pt idx="9">
                  <c:v>-218</c:v>
                </c:pt>
                <c:pt idx="10">
                  <c:v>-152</c:v>
                </c:pt>
                <c:pt idx="11">
                  <c:v>-58</c:v>
                </c:pt>
                <c:pt idx="12">
                  <c:v>-63</c:v>
                </c:pt>
                <c:pt idx="13">
                  <c:v>49</c:v>
                </c:pt>
                <c:pt idx="14">
                  <c:v>140</c:v>
                </c:pt>
                <c:pt idx="15">
                  <c:v>138</c:v>
                </c:pt>
                <c:pt idx="16">
                  <c:v>237</c:v>
                </c:pt>
                <c:pt idx="17">
                  <c:v>331</c:v>
                </c:pt>
                <c:pt idx="18">
                  <c:v>456</c:v>
                </c:pt>
                <c:pt idx="19">
                  <c:v>409</c:v>
                </c:pt>
                <c:pt idx="20">
                  <c:v>523</c:v>
                </c:pt>
                <c:pt idx="21">
                  <c:v>477</c:v>
                </c:pt>
                <c:pt idx="22">
                  <c:v>276</c:v>
                </c:pt>
                <c:pt idx="23">
                  <c:v>147</c:v>
                </c:pt>
              </c:numCache>
            </c:numRef>
          </c:val>
          <c:smooth val="0"/>
        </c:ser>
        <c:ser>
          <c:idx val="19"/>
          <c:order val="19"/>
          <c:tx>
            <c:strRef>
              <c:f>Sheet1!$U$1</c:f>
              <c:strCache>
                <c:ptCount val="1"/>
                <c:pt idx="0">
                  <c:v>30 Jan</c:v>
                </c:pt>
              </c:strCache>
            </c:strRef>
          </c:tx>
          <c:spPr>
            <a:ln w="12700">
              <a:solidFill>
                <a:srgbClr val="B8C0CC"/>
              </a:solidFill>
            </a:ln>
          </c:spPr>
          <c:marker>
            <c:symbol val="none"/>
          </c:marker>
          <c:cat>
            <c:strRef>
              <c:f>Sheet1!$A$2:$A$25</c:f>
              <c:strCach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Sheet1!$U$2:$U$25</c:f>
              <c:numCache>
                <c:formatCode>General</c:formatCode>
                <c:ptCount val="24"/>
                <c:pt idx="0">
                  <c:v>43</c:v>
                </c:pt>
                <c:pt idx="1">
                  <c:v>10</c:v>
                </c:pt>
                <c:pt idx="2">
                  <c:v>-1</c:v>
                </c:pt>
                <c:pt idx="3">
                  <c:v>0</c:v>
                </c:pt>
                <c:pt idx="4">
                  <c:v>-6</c:v>
                </c:pt>
                <c:pt idx="5">
                  <c:v>-41</c:v>
                </c:pt>
                <c:pt idx="6">
                  <c:v>-95</c:v>
                </c:pt>
                <c:pt idx="7">
                  <c:v>-318</c:v>
                </c:pt>
                <c:pt idx="8">
                  <c:v>-340</c:v>
                </c:pt>
                <c:pt idx="9">
                  <c:v>-302</c:v>
                </c:pt>
                <c:pt idx="10">
                  <c:v>-170</c:v>
                </c:pt>
                <c:pt idx="11">
                  <c:v>-40</c:v>
                </c:pt>
                <c:pt idx="12">
                  <c:v>-7</c:v>
                </c:pt>
                <c:pt idx="13">
                  <c:v>72</c:v>
                </c:pt>
                <c:pt idx="14">
                  <c:v>134</c:v>
                </c:pt>
                <c:pt idx="15">
                  <c:v>146</c:v>
                </c:pt>
                <c:pt idx="16">
                  <c:v>288</c:v>
                </c:pt>
                <c:pt idx="17">
                  <c:v>381</c:v>
                </c:pt>
                <c:pt idx="18">
                  <c:v>444</c:v>
                </c:pt>
                <c:pt idx="19">
                  <c:v>480</c:v>
                </c:pt>
                <c:pt idx="20">
                  <c:v>541</c:v>
                </c:pt>
                <c:pt idx="21">
                  <c:v>455</c:v>
                </c:pt>
                <c:pt idx="22">
                  <c:v>379</c:v>
                </c:pt>
                <c:pt idx="23">
                  <c:v>162</c:v>
                </c:pt>
              </c:numCache>
            </c:numRef>
          </c:val>
          <c:smooth val="0"/>
        </c:ser>
        <c:ser>
          <c:idx val="20"/>
          <c:order val="20"/>
          <c:tx>
            <c:strRef>
              <c:f>Sheet1!$V$1</c:f>
              <c:strCache>
                <c:ptCount val="1"/>
                <c:pt idx="0">
                  <c:v>31 Jan</c:v>
                </c:pt>
              </c:strCache>
            </c:strRef>
          </c:tx>
          <c:spPr>
            <a:ln w="12700">
              <a:solidFill>
                <a:srgbClr val="B8C0CC"/>
              </a:solidFill>
            </a:ln>
          </c:spPr>
          <c:marker>
            <c:symbol val="none"/>
          </c:marker>
          <c:cat>
            <c:strRef>
              <c:f>Sheet1!$A$2:$A$25</c:f>
              <c:strCach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Sheet1!$V$2:$V$25</c:f>
              <c:numCache>
                <c:formatCode>General</c:formatCode>
                <c:ptCount val="24"/>
                <c:pt idx="0">
                  <c:v>63</c:v>
                </c:pt>
                <c:pt idx="1">
                  <c:v>3</c:v>
                </c:pt>
                <c:pt idx="2">
                  <c:v>4</c:v>
                </c:pt>
                <c:pt idx="3">
                  <c:v>-1</c:v>
                </c:pt>
                <c:pt idx="4">
                  <c:v>5</c:v>
                </c:pt>
                <c:pt idx="5">
                  <c:v>-41</c:v>
                </c:pt>
                <c:pt idx="6">
                  <c:v>-67</c:v>
                </c:pt>
                <c:pt idx="7">
                  <c:v>-200</c:v>
                </c:pt>
                <c:pt idx="8">
                  <c:v>-275</c:v>
                </c:pt>
                <c:pt idx="9">
                  <c:v>-118</c:v>
                </c:pt>
                <c:pt idx="10">
                  <c:v>-54</c:v>
                </c:pt>
                <c:pt idx="11">
                  <c:v>-13</c:v>
                </c:pt>
                <c:pt idx="12">
                  <c:v>34</c:v>
                </c:pt>
                <c:pt idx="13">
                  <c:v>81</c:v>
                </c:pt>
                <c:pt idx="14">
                  <c:v>102</c:v>
                </c:pt>
                <c:pt idx="15">
                  <c:v>103</c:v>
                </c:pt>
                <c:pt idx="16">
                  <c:v>267</c:v>
                </c:pt>
                <c:pt idx="17">
                  <c:v>337</c:v>
                </c:pt>
                <c:pt idx="18">
                  <c:v>241</c:v>
                </c:pt>
                <c:pt idx="19">
                  <c:v>180</c:v>
                </c:pt>
                <c:pt idx="20">
                  <c:v>159</c:v>
                </c:pt>
                <c:pt idx="21">
                  <c:v>145</c:v>
                </c:pt>
                <c:pt idx="22">
                  <c:v>199</c:v>
                </c:pt>
                <c:pt idx="23">
                  <c:v>67</c:v>
                </c:pt>
              </c:numCache>
            </c:numRef>
          </c:val>
          <c:smooth val="0"/>
        </c:ser>
        <c:ser>
          <c:idx val="21"/>
          <c:order val="21"/>
          <c:tx>
            <c:strRef>
              <c:f>Sheet1!$W$1</c:f>
              <c:strCache>
                <c:ptCount val="1"/>
                <c:pt idx="0">
                  <c:v>21-weekday average</c:v>
                </c:pt>
              </c:strCache>
            </c:strRef>
          </c:tx>
          <c:spPr>
            <a:ln w="41275">
              <a:solidFill>
                <a:srgbClr val="14213D"/>
              </a:solidFill>
            </a:ln>
          </c:spPr>
          <c:marker>
            <c:symbol val="none"/>
          </c:marker>
          <c:dPt>
            <c:idx val="8"/>
            <c:marker>
              <c:symbol val="circle"/>
              <c:size val="9"/>
              <c:spPr>
                <a:solidFill>
                  <a:srgbClr val="14213D"/>
                </a:solidFill>
              </c:spPr>
            </c:marker>
          </c:dPt>
          <c:dPt>
            <c:idx val="20"/>
            <c:marker>
              <c:symbol val="circle"/>
              <c:size val="9"/>
              <c:spPr>
                <a:solidFill>
                  <a:srgbClr val="14213D"/>
                </a:solidFill>
              </c:spPr>
            </c:marker>
          </c:dPt>
          <c:dLbls>
            <c:dLbl>
              <c:idx val="8"/>
              <c:tx>
                <c:rich>
                  <a:bodyPr wrap="none"/>
                  <a:lstStyle/>
                  <a:p>
                    <a:r>
                      <a:rPr sz="1200" b="1">
                        <a:solidFill>
                          <a:srgbClr val="14213D"/>
                        </a:solidFill>
                        <a:latin typeface="Calibri"/>
                      </a:rPr>
                      <a:t>−301 at 08:00</a:t>
                    </a:r>
                  </a:p>
                </c:rich>
              </c:tx>
              <c:spPr>
                <a:solidFill>
                  <a:srgbClr val="FFFFFF"/>
                </a:solidFill>
              </c:spPr>
              <c:dLblPos val="b"/>
              <c:showLegendKey val="0"/>
              <c:showVal val="1"/>
              <c:showCatName val="0"/>
              <c:showSerName val="0"/>
              <c:showPercent val="0"/>
              <c:showBubbleSize val="0"/>
            </c:dLbl>
            <c:dLbl>
              <c:idx val="20"/>
              <c:tx>
                <c:rich>
                  <a:bodyPr wrap="none"/>
                  <a:lstStyle/>
                  <a:p>
                    <a:r>
                      <a:rPr sz="1200" b="1">
                        <a:solidFill>
                          <a:srgbClr val="14213D"/>
                        </a:solidFill>
                        <a:latin typeface="Calibri"/>
                      </a:rPr>
                      <a:t>+396 at 20:00</a:t>
                    </a:r>
                  </a:p>
                </c:rich>
              </c:tx>
              <c:spPr>
                <a:solidFill>
                  <a:srgbClr val="FFFFFF"/>
                </a:solidFill>
              </c:spPr>
              <c:dLblPos val="t"/>
              <c:showLegendKey val="0"/>
              <c:showVal val="1"/>
              <c:showCatName val="0"/>
              <c:showSerName val="0"/>
              <c:showPercent val="0"/>
              <c:showBubbleSize val="0"/>
            </c:dLbl>
            <c:showLegendKey val="0"/>
            <c:showVal val="0"/>
            <c:showCatName val="0"/>
            <c:showSerName val="0"/>
            <c:showPercent val="0"/>
            <c:showBubbleSize val="0"/>
            <c:showLeaderLines val="1"/>
          </c:dLbls>
          <c:cat>
            <c:strRef>
              <c:f>Sheet1!$A$2:$A$25</c:f>
              <c:strCach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Sheet1!$W$2:$W$25</c:f>
              <c:numCache>
                <c:formatCode>General</c:formatCode>
                <c:ptCount val="24"/>
                <c:pt idx="0">
                  <c:v>24</c:v>
                </c:pt>
                <c:pt idx="1">
                  <c:v>3</c:v>
                </c:pt>
                <c:pt idx="2">
                  <c:v>1</c:v>
                </c:pt>
                <c:pt idx="3">
                  <c:v>1</c:v>
                </c:pt>
                <c:pt idx="4">
                  <c:v>0</c:v>
                </c:pt>
                <c:pt idx="5">
                  <c:v>-37</c:v>
                </c:pt>
                <c:pt idx="6">
                  <c:v>-97</c:v>
                </c:pt>
                <c:pt idx="7">
                  <c:v>-244</c:v>
                </c:pt>
                <c:pt idx="8">
                  <c:v>-301</c:v>
                </c:pt>
                <c:pt idx="9">
                  <c:v>-232</c:v>
                </c:pt>
                <c:pt idx="10">
                  <c:v>-106</c:v>
                </c:pt>
                <c:pt idx="11">
                  <c:v>-32</c:v>
                </c:pt>
                <c:pt idx="12">
                  <c:v>-10</c:v>
                </c:pt>
                <c:pt idx="13">
                  <c:v>49</c:v>
                </c:pt>
                <c:pt idx="14">
                  <c:v>99</c:v>
                </c:pt>
                <c:pt idx="15">
                  <c:v>117</c:v>
                </c:pt>
                <c:pt idx="16">
                  <c:v>197</c:v>
                </c:pt>
                <c:pt idx="17">
                  <c:v>312</c:v>
                </c:pt>
                <c:pt idx="18">
                  <c:v>359</c:v>
                </c:pt>
                <c:pt idx="19">
                  <c:v>338</c:v>
                </c:pt>
                <c:pt idx="20">
                  <c:v>396</c:v>
                </c:pt>
                <c:pt idx="21">
                  <c:v>338</c:v>
                </c:pt>
                <c:pt idx="22">
                  <c:v>212</c:v>
                </c:pt>
                <c:pt idx="23">
                  <c:v>87</c:v>
                </c:pt>
              </c:numCache>
            </c:numRef>
          </c:val>
          <c:smooth val="0"/>
        </c:ser>
        <c:marker val="1"/>
        <c:smooth val="0"/>
        <c:axId val="2118791784"/>
        <c:axId val="2140495176"/>
      </c:lineChart>
      <c:catAx>
        <c:axId val="2118791784"/>
        <c:scaling>
          <c:orientation val="minMax"/>
        </c:scaling>
        <c:delete val="0"/>
        <c:axPos val="b"/>
        <c:title>
          <c:tx>
            <c:rich>
              <a:bodyPr/>
              <a:lstStyle/>
              <a:p>
                <a:r>
                  <a:rPr sz="1100" b="0">
                    <a:solidFill>
                      <a:srgbClr val="4B5563"/>
                    </a:solidFill>
                    <a:latin typeface="Calibri"/>
                  </a:rPr>
                  <a:t>Hour of day · grey lines = each of the 21 non-holiday weekdays · navy = average</a:t>
                </a:r>
              </a:p>
            </c:rich>
          </c:tx>
          <c:layout/>
          <c:overlay val="0"/>
        </c:title>
        <c:majorTickMark val="out"/>
        <c:minorTickMark val="none"/>
        <c:tickLblPos val="low"/>
        <c:spPr>
          <a:ln>
            <a:solidFill>
              <a:srgbClr val="B8C0CC"/>
            </a:solidFill>
          </a:ln>
        </c:spPr>
        <c:txPr>
          <a:bodyPr/>
          <a:lstStyle/>
          <a:p>
            <a:pPr>
              <a:defRPr sz="1100">
                <a:solidFill>
                  <a:srgbClr val="4B5563"/>
                </a:solidFill>
                <a:latin typeface="Calibri"/>
              </a:defRPr>
            </a:pPr>
          </a:p>
        </c:txPr>
        <c:crossAx val="2140495176"/>
        <c:crosses val="autoZero"/>
        <c:auto val="1"/>
        <c:lblAlgn val="ctr"/>
        <c:lblOffset val="100"/>
        <c:noMultiLvlLbl val="0"/>
      </c:catAx>
      <c:valAx>
        <c:axId val="2140495176"/>
        <c:scaling>
          <c:max val="800.0"/>
          <c:min val="-600.0"/>
        </c:scaling>
        <c:delete val="0"/>
        <c:axPos val="l"/>
        <c:majorGridlines>
          <c:spPr>
            <a:ln w="9525">
              <a:solidFill>
                <a:srgbClr val="E2E5EA"/>
              </a:solidFill>
            </a:ln>
          </c:spPr>
        </c:majorGridlines>
        <c:title>
          <c:tx>
            <c:rich>
              <a:bodyPr/>
              <a:lstStyle/>
              <a:p>
                <a:r>
                  <a:rPr sz="1100" b="0">
                    <a:solidFill>
                      <a:srgbClr val="4B5563"/>
                    </a:solidFill>
                    <a:latin typeface="Calibri"/>
                  </a:rPr>
                  <a:t>Net flow per hour (pickups − drop-offs)</a:t>
                </a:r>
              </a:p>
            </c:rich>
          </c:tx>
          <c:layout/>
          <c:overlay val="0"/>
        </c:title>
        <c:numFmt formatCode="+#,##0;−#,##0;0" sourceLinked="0"/>
        <c:majorTickMark val="out"/>
        <c:minorTickMark val="none"/>
        <c:tickLblPos val="nextTo"/>
        <c:spPr>
          <a:ln>
            <a:solidFill>
              <a:srgbClr val="B8C0CC"/>
            </a:solidFill>
          </a:ln>
        </c:spPr>
        <c:txPr>
          <a:bodyPr/>
          <a:lstStyle/>
          <a:p>
            <a:pPr>
              <a:defRPr sz="1100">
                <a:solidFill>
                  <a:srgbClr val="4B5563"/>
                </a:solidFill>
                <a:latin typeface="Calibri"/>
              </a:defRPr>
            </a:pPr>
          </a:p>
        </c:txPr>
        <c:crossAx val="2118791784"/>
        <c:crosses val="autoZero"/>
        <c:majorUnit val="20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Share of all eligible pickups (%)</c:v>
                </c:pt>
              </c:strCache>
            </c:strRef>
          </c:tx>
          <c:dPt>
            <c:idx val="0"/>
            <c:spPr>
              <a:solidFill>
                <a:srgbClr val="E2E5EA"/>
              </a:solidFill>
              <a:ln>
                <a:noFill/>
              </a:ln>
            </c:spPr>
          </c:dPt>
          <c:dPt>
            <c:idx val="1"/>
            <c:spPr>
              <a:solidFill>
                <a:srgbClr val="6B7280"/>
              </a:solidFill>
              <a:ln>
                <a:noFill/>
              </a:ln>
            </c:spPr>
          </c:dPt>
          <c:dPt>
            <c:idx val="2"/>
            <c:spPr>
              <a:solidFill>
                <a:srgbClr val="C9D3E0"/>
              </a:solidFill>
              <a:ln>
                <a:noFill/>
              </a:ln>
            </c:spPr>
          </c:dPt>
          <c:dPt>
            <c:idx val="3"/>
            <c:spPr>
              <a:solidFill>
                <a:srgbClr val="8FA3BF"/>
              </a:solidFill>
              <a:ln>
                <a:noFill/>
              </a:ln>
            </c:spPr>
          </c:dPt>
          <c:dPt>
            <c:idx val="4"/>
            <c:spPr>
              <a:solidFill>
                <a:srgbClr val="F2B705"/>
              </a:solidFill>
              <a:ln>
                <a:noFill/>
              </a:ln>
            </c:spPr>
          </c:dPt>
          <c:dPt>
            <c:idx val="5"/>
            <c:spPr>
              <a:solidFill>
                <a:srgbClr val="3B5B8C"/>
              </a:solidFill>
              <a:ln>
                <a:noFill/>
              </a:ln>
            </c:spPr>
          </c:dPt>
          <c:dPt>
            <c:idx val="6"/>
            <c:spPr>
              <a:solidFill>
                <a:srgbClr val="14213D"/>
              </a:solidFill>
              <a:ln>
                <a:noFill/>
              </a:ln>
            </c:spPr>
          </c:dPt>
          <c:cat>
            <c:strRef>
              <c:f>Sheet1!$A$2:$A$8</c:f>
              <c:strCache>
                <c:ptCount val="7"/>
                <c:pt idx="0">
                  <c:v>Zones below 1,000 pickups</c:v>
                </c:pt>
                <c:pt idx="1">
                  <c:v>Airports (JFK, LaGuardia)</c:v>
                </c:pt>
                <c:pt idx="2">
                  <c:v>Low volume, morning-heavy</c:v>
                </c:pt>
                <c:pt idx="3">
                  <c:v>Mid volume, evening inflow</c:v>
                </c:pt>
                <c:pt idx="4">
                  <c:v>Weekend and late night</c:v>
                </c:pt>
                <c:pt idx="5">
                  <c:v>High volume, morning inflow</c:v>
                </c:pt>
                <c:pt idx="6">
                  <c:v>High volume, morning outflow</c:v>
                </c:pt>
              </c:strCache>
            </c:strRef>
          </c:cat>
          <c:val>
            <c:numRef>
              <c:f>Sheet1!$B$2:$B$8</c:f>
              <c:numCache>
                <c:formatCode>General</c:formatCode>
                <c:ptCount val="7"/>
                <c:pt idx="0">
                  <c:v>1.4</c:v>
                </c:pt>
                <c:pt idx="1">
                  <c:v>6.6</c:v>
                </c:pt>
                <c:pt idx="2">
                  <c:v>1.1</c:v>
                </c:pt>
                <c:pt idx="3">
                  <c:v>3.3</c:v>
                </c:pt>
                <c:pt idx="4">
                  <c:v>8.9</c:v>
                </c:pt>
                <c:pt idx="5">
                  <c:v>35.7</c:v>
                </c:pt>
                <c:pt idx="6">
                  <c:v>43.0</c:v>
                </c:pt>
              </c:numCache>
            </c:numRef>
          </c:val>
        </c:ser>
        <c:dLbls>
          <c:numFmt formatCode="0.0&quot;%&quot;" sourceLinked="0"/>
          <c:txPr>
            <a:bodyPr/>
            <a:lstStyle/>
            <a:p>
              <a:pPr>
                <a:defRPr sz="1200" b="1">
                  <a:solidFill>
                    <a:srgbClr val="1F2937"/>
                  </a:solidFill>
                  <a:latin typeface="Calibri"/>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l"/>
        <c:majorTickMark val="out"/>
        <c:minorTickMark val="none"/>
        <c:tickLblPos val="nextTo"/>
        <c:spPr>
          <a:ln>
            <a:solidFill>
              <a:srgbClr val="B8C0CC"/>
            </a:solidFill>
          </a:ln>
        </c:spPr>
        <c:txPr>
          <a:bodyPr/>
          <a:lstStyle/>
          <a:p>
            <a:pPr>
              <a:defRPr sz="1200">
                <a:solidFill>
                  <a:srgbClr val="1F2937"/>
                </a:solidFill>
                <a:latin typeface="Calibri"/>
              </a:defRPr>
            </a:pPr>
          </a:p>
        </c:txPr>
        <c:crossAx val="-2113994440"/>
        <c:crosses val="autoZero"/>
        <c:auto val="1"/>
        <c:lblAlgn val="ctr"/>
        <c:lblOffset val="100"/>
        <c:noMultiLvlLbl val="0"/>
      </c:catAx>
      <c:valAx>
        <c:axId val="-2113994440"/>
        <c:scaling>
          <c:max val="52.0"/>
          <c:min val="0.0"/>
        </c:scaling>
        <c:delete/>
        <c:axPos val="b"/>
        <c:majorTickMark val="out"/>
        <c:minorTickMark val="none"/>
        <c:tickLblPos val="nextTo"/>
        <c:spPr>
          <a:ln>
            <a:solidFill>
              <a:srgbClr val="B8C0CC"/>
            </a:solidFill>
          </a:ln>
        </c:spPr>
        <c:txPr>
          <a:bodyPr/>
          <a:lstStyle/>
          <a:p>
            <a:pPr>
              <a:defRPr sz="1100">
                <a:solidFill>
                  <a:srgbClr val="4B5563"/>
                </a:solidFill>
                <a:latin typeface="Calibri"/>
              </a:defRPr>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NYC TLC Yellow Taxi trip records for January 2025 (3,475,226 raw records). Phase 2 flags rather than deletes records; 3,402,692 are eligible pickups (eligible_demand). Finding 1: Phase 3 zone and borough tables. Finding 2: Phase 3 imbalance index (P - D)/(P + D) and persistence, independently re-verified in the Phase 3 QC pass. Finding 3: Phase 4 Model A k-means with k = 5 (analyst-selected; the pre-specified rule selected k = 2). Nothing here measures ride requests, taxi supply or wait times.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Hourly chart: eligible pickups divided by the number of calendar days of each type (21 weekdays excluding 1 and 20 January holidays; 8 weekend days). Weekday 18:00 averages 9,401 pickups per day; the morning peak is 5,738 at 08:00. Concentration: 89.4% of 3,402,692 eligible pickups start in Manhattan; the top 15 of 259 zones account for 50.6%. Fare comparison: weekday standard-rate (RatecodeID 1) metered trips, means direct-standardised to a common distance x duration mix (24 strata with &gt;= 30 trips in every period, 97.2% of trips). Base fare = fare_amount; total charge = total_amount - tip_amount, which includes the documented $2.50 weekday 16:00-20:00 surcharge. Robustness range across 12 specifications: base -1.5% to -1.0%, total +10.6% to +12.0%. Completed pickups are not ride requests.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grey line is one non-holiday weekday in January 2025 (21 days); the navy line is the average. Average net flow is -301 trips at 08:00 and +396 at 20:00. Net flow was negative at every hour 07:00-09:59 on all 21 weekdays and positive at every hour 17:00-21:59 on all 21 weekdays. Citywide, 225 of 228 weekday zone-hours with |imbalance index| &gt;= 0.3 and &gt;= 50 trip ends per day kept the majority sign on &gt;= 90% of qualifying days (robust to stricter thresholds in the Phase 3 QC). These cells were selected for strong imbalance, so high persistence is partly expected. Net flow describes completed passenger trips only; it does not measure taxi availability, driver shortages or unmet requests.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A (operational behaviour) k-means on 101 pickup zones with &gt;= 1,000 eligible pickups, airports held out. Features: log daily pickups, log weekend/weekday rate, weekday pickup shares at 00-05, 06-09, 16-19 and 20-23, and weekday imbalance at 06-09 and 16-19, standardised with equal weight per feature. KMeans n_init = 20, random_state = 20250101. Selection: the pre-specified rule (gates, then silhouette) selected k = 2 (a high-volume core vs a low-volume remainder); k = 5 is an analyst-selected operational segmentation with a lower silhouette (0.279 vs 0.334). It passes all stability gates (day-resampling ARI 0.88, seed ARI 0.95) but is not statistically optimal and has not been validated against business outcomes. Under equal weight per feature group, 20 of 101 zones change segment (72.4% pickup-weighted agreement); the two high-volume segments keep their opposite morning flows, and the weekend segment shrinks from 13 zones to 7. Shares use all 3,402,692 eligible pickups: segments 43.0%, 35.7%, 8.9%, 3.3%, 1.1%; airports 6.6%; zones below threshold 1.4%.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comes from Phases 3-4: Midtown Center daily net flow (21 non-holiday weekdays), persistence of 225 of 228 strongly imbalanced zone-hours, weekday 18:00 average 9,401 pickups, Model A segments (78.7% in the two high-volume segments), and the Flex Fare share rising from about 4% (2-6 January) to about 20% later in the month. Repositioning is a hypothesis: drop-off counts do not show where vacant taxis are, and imbalance does not measure driver shortages. Segments are analyst-selected (k = 5) and weighting-sensitive. No outcome data (wait times, revenue, utilisation) was available, so no impact is estimated.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Kicker"/>
          <p:cNvSpPr txBox="1"/>
          <p:nvPr/>
        </p:nvSpPr>
        <p:spPr>
          <a:xfrm>
            <a:off x="548640" y="384048"/>
            <a:ext cx="10972800" cy="274320"/>
          </a:xfrm>
          <a:prstGeom prst="rect">
            <a:avLst/>
          </a:prstGeom>
          <a:noFill/>
        </p:spPr>
        <p:txBody>
          <a:bodyPr wrap="square" lIns="0" rIns="0" tIns="0" bIns="0" anchor="t">
            <a:spAutoFit/>
          </a:bodyPr>
          <a:lstStyle/>
          <a:p>
            <a:pPr algn="l">
              <a:spcAft>
                <a:spcPts val="0"/>
              </a:spcAft>
            </a:pPr>
            <a:r>
              <a:rPr sz="1200" b="1" i="0">
                <a:solidFill>
                  <a:srgbClr val="F2B705"/>
                </a:solidFill>
                <a:latin typeface="Calibri"/>
              </a:rPr>
              <a:t>EXECUTIVE SUMMARY · NYC YELLOW TAXI, JANUARY 2025</a:t>
            </a:r>
          </a:p>
        </p:txBody>
      </p:sp>
      <p:sp>
        <p:nvSpPr>
          <p:cNvPr id="3" name="Title"/>
          <p:cNvSpPr txBox="1"/>
          <p:nvPr/>
        </p:nvSpPr>
        <p:spPr>
          <a:xfrm>
            <a:off x="548640" y="658368"/>
            <a:ext cx="11064240" cy="914400"/>
          </a:xfrm>
          <a:prstGeom prst="rect">
            <a:avLst/>
          </a:prstGeom>
          <a:noFill/>
        </p:spPr>
        <p:txBody>
          <a:bodyPr wrap="square" lIns="0" rIns="0" tIns="0" bIns="0" anchor="t">
            <a:spAutoFit/>
          </a:bodyPr>
          <a:lstStyle/>
          <a:p>
            <a:pPr algn="l">
              <a:spcAft>
                <a:spcPts val="0"/>
              </a:spcAft>
            </a:pPr>
            <a:r>
              <a:rPr sz="2800" b="1" i="0">
                <a:solidFill>
                  <a:srgbClr val="FFFFFF"/>
                </a:solidFill>
                <a:latin typeface="Calibri"/>
              </a:rPr>
              <a:t>Taxi activity is concentrated, directional and predictable, which supports zone- and time-specific planning</a:t>
            </a:r>
          </a:p>
        </p:txBody>
      </p:sp>
      <p:sp>
        <p:nvSpPr>
          <p:cNvPr id="4" name="TextBox 3"/>
          <p:cNvSpPr txBox="1"/>
          <p:nvPr/>
        </p:nvSpPr>
        <p:spPr>
          <a:xfrm>
            <a:off x="548640" y="1783080"/>
            <a:ext cx="11064240" cy="457200"/>
          </a:xfrm>
          <a:prstGeom prst="rect">
            <a:avLst/>
          </a:prstGeom>
          <a:noFill/>
        </p:spPr>
        <p:txBody>
          <a:bodyPr wrap="square" lIns="0" rIns="0" tIns="0" bIns="0" anchor="t">
            <a:spAutoFit/>
          </a:bodyPr>
          <a:lstStyle/>
          <a:p>
            <a:pPr algn="l">
              <a:spcAft>
                <a:spcPts val="0"/>
              </a:spcAft>
            </a:pPr>
            <a:r>
              <a:rPr sz="1600" b="1" i="0">
                <a:solidFill>
                  <a:srgbClr val="F2B705"/>
                </a:solidFill>
                <a:latin typeface="Calibri"/>
              </a:rPr>
              <a:t>Business question  </a:t>
            </a:r>
            <a:r>
              <a:rPr sz="1600" b="0" i="0">
                <a:solidFill>
                  <a:srgbClr val="FFFFFF"/>
                </a:solidFill>
                <a:latin typeface="Calibri"/>
              </a:rPr>
              <a:t>Where and when do completed Yellow Taxi trips concentrate, and which recurring patterns could inform operating plans?</a:t>
            </a:r>
          </a:p>
        </p:txBody>
      </p:sp>
      <p:sp>
        <p:nvSpPr>
          <p:cNvPr id="5" name="Finding 1 card"/>
          <p:cNvSpPr/>
          <p:nvPr/>
        </p:nvSpPr>
        <p:spPr>
          <a:xfrm>
            <a:off x="548640" y="2514600"/>
            <a:ext cx="3520440" cy="2880360"/>
          </a:xfrm>
          <a:prstGeom prst="roundRect">
            <a:avLst>
              <a:gd name="adj" fmla="val 6000"/>
            </a:avLst>
          </a:prstGeom>
          <a:solidFill>
            <a:srgbClr val="2233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22960" y="2788920"/>
            <a:ext cx="384048" cy="384048"/>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14213D"/>
                </a:solidFill>
                <a:latin typeface="Calibri"/>
              </a:rPr>
              <a:t>1</a:t>
            </a:r>
          </a:p>
        </p:txBody>
      </p:sp>
      <p:sp>
        <p:nvSpPr>
          <p:cNvPr id="7" name="Finding 1 stat"/>
          <p:cNvSpPr txBox="1"/>
          <p:nvPr/>
        </p:nvSpPr>
        <p:spPr>
          <a:xfrm>
            <a:off x="822960" y="3291840"/>
            <a:ext cx="2971800" cy="685800"/>
          </a:xfrm>
          <a:prstGeom prst="rect">
            <a:avLst/>
          </a:prstGeom>
          <a:noFill/>
        </p:spPr>
        <p:txBody>
          <a:bodyPr wrap="square" lIns="0" rIns="0" tIns="0" bIns="0" anchor="t">
            <a:spAutoFit/>
          </a:bodyPr>
          <a:lstStyle/>
          <a:p>
            <a:pPr algn="l">
              <a:spcAft>
                <a:spcPts val="0"/>
              </a:spcAft>
            </a:pPr>
            <a:r>
              <a:rPr sz="4000" b="1" i="0">
                <a:solidFill>
                  <a:srgbClr val="FFFFFF"/>
                </a:solidFill>
                <a:latin typeface="Calibri"/>
              </a:rPr>
              <a:t>50.6%</a:t>
            </a:r>
          </a:p>
        </p:txBody>
      </p:sp>
      <p:sp>
        <p:nvSpPr>
          <p:cNvPr id="8" name="Finding 1 label"/>
          <p:cNvSpPr txBox="1"/>
          <p:nvPr/>
        </p:nvSpPr>
        <p:spPr>
          <a:xfrm>
            <a:off x="822960" y="3977640"/>
            <a:ext cx="2971800" cy="640080"/>
          </a:xfrm>
          <a:prstGeom prst="rect">
            <a:avLst/>
          </a:prstGeom>
          <a:noFill/>
        </p:spPr>
        <p:txBody>
          <a:bodyPr wrap="square" lIns="0" rIns="0" tIns="0" bIns="0" anchor="t">
            <a:spAutoFit/>
          </a:bodyPr>
          <a:lstStyle/>
          <a:p>
            <a:pPr algn="l">
              <a:spcAft>
                <a:spcPts val="0"/>
              </a:spcAft>
            </a:pPr>
            <a:r>
              <a:rPr sz="1400" b="1" i="0">
                <a:solidFill>
                  <a:srgbClr val="C9D3E0"/>
                </a:solidFill>
                <a:latin typeface="Calibri"/>
              </a:rPr>
              <a:t>of 3,402,692 eligible pickups start in just 15 of 259 zones</a:t>
            </a:r>
          </a:p>
        </p:txBody>
      </p:sp>
      <p:sp>
        <p:nvSpPr>
          <p:cNvPr id="9" name="Finding 1 detail"/>
          <p:cNvSpPr txBox="1"/>
          <p:nvPr/>
        </p:nvSpPr>
        <p:spPr>
          <a:xfrm>
            <a:off x="822960" y="4645152"/>
            <a:ext cx="2971800" cy="731520"/>
          </a:xfrm>
          <a:prstGeom prst="rect">
            <a:avLst/>
          </a:prstGeom>
          <a:noFill/>
        </p:spPr>
        <p:txBody>
          <a:bodyPr wrap="square" lIns="0" rIns="0" tIns="0" bIns="0" anchor="t">
            <a:spAutoFit/>
          </a:bodyPr>
          <a:lstStyle/>
          <a:p>
            <a:pPr algn="l">
              <a:spcAft>
                <a:spcPts val="0"/>
              </a:spcAft>
            </a:pPr>
            <a:r>
              <a:rPr sz="1200" b="0" i="0">
                <a:solidFill>
                  <a:srgbClr val="C9D3E0"/>
                </a:solidFill>
                <a:latin typeface="Calibri"/>
              </a:rPr>
              <a:t>Pickups are concentrated in place and time: 89.4% start in Manhattan, and the weekday 18:00 hour averages 9,401 pickups.</a:t>
            </a:r>
          </a:p>
        </p:txBody>
      </p:sp>
      <p:sp>
        <p:nvSpPr>
          <p:cNvPr id="10" name="Finding 2 card"/>
          <p:cNvSpPr/>
          <p:nvPr/>
        </p:nvSpPr>
        <p:spPr>
          <a:xfrm>
            <a:off x="4320540" y="2514600"/>
            <a:ext cx="3520440" cy="2880360"/>
          </a:xfrm>
          <a:prstGeom prst="roundRect">
            <a:avLst>
              <a:gd name="adj" fmla="val 6000"/>
            </a:avLst>
          </a:prstGeom>
          <a:solidFill>
            <a:srgbClr val="2233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94860" y="2788920"/>
            <a:ext cx="384048" cy="384048"/>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14213D"/>
                </a:solidFill>
                <a:latin typeface="Calibri"/>
              </a:rPr>
              <a:t>2</a:t>
            </a:r>
          </a:p>
        </p:txBody>
      </p:sp>
      <p:sp>
        <p:nvSpPr>
          <p:cNvPr id="12" name="Finding 2 stat"/>
          <p:cNvSpPr txBox="1"/>
          <p:nvPr/>
        </p:nvSpPr>
        <p:spPr>
          <a:xfrm>
            <a:off x="4594860" y="3291840"/>
            <a:ext cx="2971800" cy="685800"/>
          </a:xfrm>
          <a:prstGeom prst="rect">
            <a:avLst/>
          </a:prstGeom>
          <a:noFill/>
        </p:spPr>
        <p:txBody>
          <a:bodyPr wrap="square" lIns="0" rIns="0" tIns="0" bIns="0" anchor="t">
            <a:spAutoFit/>
          </a:bodyPr>
          <a:lstStyle/>
          <a:p>
            <a:pPr algn="l">
              <a:spcAft>
                <a:spcPts val="0"/>
              </a:spcAft>
            </a:pPr>
            <a:r>
              <a:rPr sz="4000" b="1" i="0">
                <a:solidFill>
                  <a:srgbClr val="FFFFFF"/>
                </a:solidFill>
                <a:latin typeface="Calibri"/>
              </a:rPr>
              <a:t>21 of 21</a:t>
            </a:r>
          </a:p>
        </p:txBody>
      </p:sp>
      <p:sp>
        <p:nvSpPr>
          <p:cNvPr id="13" name="Finding 2 label"/>
          <p:cNvSpPr txBox="1"/>
          <p:nvPr/>
        </p:nvSpPr>
        <p:spPr>
          <a:xfrm>
            <a:off x="4594860" y="3977640"/>
            <a:ext cx="2971800" cy="640080"/>
          </a:xfrm>
          <a:prstGeom prst="rect">
            <a:avLst/>
          </a:prstGeom>
          <a:noFill/>
        </p:spPr>
        <p:txBody>
          <a:bodyPr wrap="square" lIns="0" rIns="0" tIns="0" bIns="0" anchor="t">
            <a:spAutoFit/>
          </a:bodyPr>
          <a:lstStyle/>
          <a:p>
            <a:pPr algn="l">
              <a:spcAft>
                <a:spcPts val="0"/>
              </a:spcAft>
            </a:pPr>
            <a:r>
              <a:rPr sz="1400" b="1" i="0">
                <a:solidFill>
                  <a:srgbClr val="C9D3E0"/>
                </a:solidFill>
                <a:latin typeface="Calibri"/>
              </a:rPr>
              <a:t>weekdays Midtown Center flipped from net inbound (am) to net outbound (pm)</a:t>
            </a:r>
          </a:p>
        </p:txBody>
      </p:sp>
      <p:sp>
        <p:nvSpPr>
          <p:cNvPr id="14" name="Finding 2 detail"/>
          <p:cNvSpPr txBox="1"/>
          <p:nvPr/>
        </p:nvSpPr>
        <p:spPr>
          <a:xfrm>
            <a:off x="4594860" y="4645152"/>
            <a:ext cx="2971800" cy="731520"/>
          </a:xfrm>
          <a:prstGeom prst="rect">
            <a:avLst/>
          </a:prstGeom>
          <a:noFill/>
        </p:spPr>
        <p:txBody>
          <a:bodyPr wrap="square" lIns="0" rIns="0" tIns="0" bIns="0" anchor="t">
            <a:spAutoFit/>
          </a:bodyPr>
          <a:lstStyle/>
          <a:p>
            <a:pPr algn="l">
              <a:spcAft>
                <a:spcPts val="0"/>
              </a:spcAft>
            </a:pPr>
            <a:r>
              <a:rPr sz="1200" b="0" i="0">
                <a:solidFill>
                  <a:srgbClr val="C9D3E0"/>
                </a:solidFill>
                <a:latin typeface="Calibri"/>
              </a:rPr>
              <a:t>Directional passenger flows recur: 225 of 228 strongly imbalanced weekday zone-hours keep the same direction on ≥ 90% of days.</a:t>
            </a:r>
          </a:p>
        </p:txBody>
      </p:sp>
      <p:sp>
        <p:nvSpPr>
          <p:cNvPr id="15" name="Finding 3 card"/>
          <p:cNvSpPr/>
          <p:nvPr/>
        </p:nvSpPr>
        <p:spPr>
          <a:xfrm>
            <a:off x="8092440" y="2514600"/>
            <a:ext cx="3520440" cy="2880360"/>
          </a:xfrm>
          <a:prstGeom prst="roundRect">
            <a:avLst>
              <a:gd name="adj" fmla="val 6000"/>
            </a:avLst>
          </a:prstGeom>
          <a:solidFill>
            <a:srgbClr val="2233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66760" y="2788920"/>
            <a:ext cx="384048" cy="384048"/>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14213D"/>
                </a:solidFill>
                <a:latin typeface="Calibri"/>
              </a:rPr>
              <a:t>3</a:t>
            </a:r>
          </a:p>
        </p:txBody>
      </p:sp>
      <p:sp>
        <p:nvSpPr>
          <p:cNvPr id="17" name="Finding 3 stat"/>
          <p:cNvSpPr txBox="1"/>
          <p:nvPr/>
        </p:nvSpPr>
        <p:spPr>
          <a:xfrm>
            <a:off x="8366760" y="3291840"/>
            <a:ext cx="2971800" cy="685800"/>
          </a:xfrm>
          <a:prstGeom prst="rect">
            <a:avLst/>
          </a:prstGeom>
          <a:noFill/>
        </p:spPr>
        <p:txBody>
          <a:bodyPr wrap="square" lIns="0" rIns="0" tIns="0" bIns="0" anchor="t">
            <a:spAutoFit/>
          </a:bodyPr>
          <a:lstStyle/>
          <a:p>
            <a:pPr algn="l">
              <a:spcAft>
                <a:spcPts val="0"/>
              </a:spcAft>
            </a:pPr>
            <a:r>
              <a:rPr sz="4000" b="1" i="0">
                <a:solidFill>
                  <a:srgbClr val="FFFFFF"/>
                </a:solidFill>
                <a:latin typeface="Calibri"/>
              </a:rPr>
              <a:t>78.7%</a:t>
            </a:r>
          </a:p>
        </p:txBody>
      </p:sp>
      <p:sp>
        <p:nvSpPr>
          <p:cNvPr id="18" name="Finding 3 label"/>
          <p:cNvSpPr txBox="1"/>
          <p:nvPr/>
        </p:nvSpPr>
        <p:spPr>
          <a:xfrm>
            <a:off x="8366760" y="3977640"/>
            <a:ext cx="2971800" cy="640080"/>
          </a:xfrm>
          <a:prstGeom prst="rect">
            <a:avLst/>
          </a:prstGeom>
          <a:noFill/>
        </p:spPr>
        <p:txBody>
          <a:bodyPr wrap="square" lIns="0" rIns="0" tIns="0" bIns="0" anchor="t">
            <a:spAutoFit/>
          </a:bodyPr>
          <a:lstStyle/>
          <a:p>
            <a:pPr algn="l">
              <a:spcAft>
                <a:spcPts val="0"/>
              </a:spcAft>
            </a:pPr>
            <a:r>
              <a:rPr sz="1400" b="1" i="0">
                <a:solidFill>
                  <a:srgbClr val="C9D3E0"/>
                </a:solidFill>
                <a:latin typeface="Calibri"/>
              </a:rPr>
              <a:t>of pickups fall in two high-volume zone segments with opposite morning flows</a:t>
            </a:r>
          </a:p>
        </p:txBody>
      </p:sp>
      <p:sp>
        <p:nvSpPr>
          <p:cNvPr id="19" name="Finding 3 detail"/>
          <p:cNvSpPr txBox="1"/>
          <p:nvPr/>
        </p:nvSpPr>
        <p:spPr>
          <a:xfrm>
            <a:off x="8366760" y="4645152"/>
            <a:ext cx="2971800" cy="731520"/>
          </a:xfrm>
          <a:prstGeom prst="rect">
            <a:avLst/>
          </a:prstGeom>
          <a:noFill/>
        </p:spPr>
        <p:txBody>
          <a:bodyPr wrap="square" lIns="0" rIns="0" tIns="0" bIns="0" anchor="t">
            <a:spAutoFit/>
          </a:bodyPr>
          <a:lstStyle/>
          <a:p>
            <a:pPr algn="l">
              <a:spcAft>
                <a:spcPts val="0"/>
              </a:spcAft>
            </a:pPr>
            <a:r>
              <a:rPr sz="1200" b="0" i="0">
                <a:solidFill>
                  <a:srgbClr val="C9D3E0"/>
                </a:solidFill>
                <a:latin typeface="Calibri"/>
              </a:rPr>
              <a:t>Clustering finds 5 operating profiles plus a separate airport category; boundaries are indicative and weighting-sensitive.</a:t>
            </a:r>
          </a:p>
        </p:txBody>
      </p:sp>
      <p:sp>
        <p:nvSpPr>
          <p:cNvPr id="20" name="TextBox 19"/>
          <p:cNvSpPr txBox="1"/>
          <p:nvPr/>
        </p:nvSpPr>
        <p:spPr>
          <a:xfrm>
            <a:off x="548640" y="5669280"/>
            <a:ext cx="11064240" cy="548640"/>
          </a:xfrm>
          <a:prstGeom prst="rect">
            <a:avLst/>
          </a:prstGeom>
          <a:noFill/>
        </p:spPr>
        <p:txBody>
          <a:bodyPr wrap="square" lIns="0" rIns="0" tIns="0" bIns="0" anchor="t">
            <a:spAutoFit/>
          </a:bodyPr>
          <a:lstStyle/>
          <a:p>
            <a:pPr algn="l">
              <a:spcAft>
                <a:spcPts val="0"/>
              </a:spcAft>
            </a:pPr>
            <a:r>
              <a:rPr sz="1300" b="1" i="0">
                <a:solidFill>
                  <a:srgbClr val="F2B705"/>
                </a:solidFill>
                <a:latin typeface="Calibri"/>
              </a:rPr>
              <a:t>What this data can and cannot show  </a:t>
            </a:r>
            <a:r>
              <a:rPr sz="1300" b="0" i="0">
                <a:solidFill>
                  <a:srgbClr val="FFFFFF"/>
                </a:solidFill>
                <a:latin typeface="Calibri"/>
              </a:rPr>
              <a:t>These are completed trips. Pickups are not total ride requests, and pickup/drop-off imbalance is an observed passenger flow, not a measure of available taxis or driver shortages.</a:t>
            </a:r>
          </a:p>
        </p:txBody>
      </p:sp>
      <p:sp>
        <p:nvSpPr>
          <p:cNvPr id="21" name="Source"/>
          <p:cNvSpPr txBox="1"/>
          <p:nvPr/>
        </p:nvSpPr>
        <p:spPr>
          <a:xfrm>
            <a:off x="548640" y="6382512"/>
            <a:ext cx="10424160" cy="320040"/>
          </a:xfrm>
          <a:prstGeom prst="rect">
            <a:avLst/>
          </a:prstGeom>
          <a:noFill/>
        </p:spPr>
        <p:txBody>
          <a:bodyPr wrap="square" lIns="0" rIns="0" tIns="0" bIns="0" anchor="t">
            <a:spAutoFit/>
          </a:bodyPr>
          <a:lstStyle/>
          <a:p>
            <a:pPr algn="l">
              <a:spcAft>
                <a:spcPts val="0"/>
              </a:spcAft>
            </a:pPr>
            <a:r>
              <a:rPr sz="1000" b="0" i="0">
                <a:solidFill>
                  <a:srgbClr val="C9D3E0"/>
                </a:solidFill>
                <a:latin typeface="Calibri"/>
              </a:rPr>
              <a:t>Source: NYC TLC Yellow Taxi trip records, January 2025 (nyc.gov/tlc). Completed trips only; eligibility rules per project Phase 2.</a:t>
            </a:r>
          </a:p>
        </p:txBody>
      </p:sp>
      <p:sp>
        <p:nvSpPr>
          <p:cNvPr id="22" name="Slide number"/>
          <p:cNvSpPr txBox="1"/>
          <p:nvPr/>
        </p:nvSpPr>
        <p:spPr>
          <a:xfrm>
            <a:off x="11185855" y="6382512"/>
            <a:ext cx="457200" cy="320040"/>
          </a:xfrm>
          <a:prstGeom prst="rect">
            <a:avLst/>
          </a:prstGeom>
          <a:noFill/>
        </p:spPr>
        <p:txBody>
          <a:bodyPr wrap="square" lIns="0" rIns="0" tIns="0" bIns="0" anchor="t">
            <a:spAutoFit/>
          </a:bodyPr>
          <a:lstStyle/>
          <a:p>
            <a:pPr algn="r">
              <a:spcAft>
                <a:spcPts val="0"/>
              </a:spcAft>
            </a:pPr>
            <a:r>
              <a:rPr sz="1000" b="0" i="0">
                <a:solidFill>
                  <a:srgbClr val="C9D3E0"/>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84048"/>
            <a:ext cx="10972800" cy="274320"/>
          </a:xfrm>
          <a:prstGeom prst="rect">
            <a:avLst/>
          </a:prstGeom>
          <a:noFill/>
        </p:spPr>
        <p:txBody>
          <a:bodyPr wrap="square" lIns="0" rIns="0" tIns="0" bIns="0" anchor="t">
            <a:spAutoFit/>
          </a:bodyPr>
          <a:lstStyle/>
          <a:p>
            <a:pPr algn="l">
              <a:spcAft>
                <a:spcPts val="0"/>
              </a:spcAft>
            </a:pPr>
            <a:r>
              <a:rPr sz="1200" b="1" i="0">
                <a:solidFill>
                  <a:srgbClr val="4B5563"/>
                </a:solidFill>
                <a:latin typeface="Calibri"/>
              </a:rPr>
              <a:t>DEMAND CONCENTRATION AND FARES</a:t>
            </a:r>
          </a:p>
        </p:txBody>
      </p:sp>
      <p:sp>
        <p:nvSpPr>
          <p:cNvPr id="3" name="Title"/>
          <p:cNvSpPr txBox="1"/>
          <p:nvPr/>
        </p:nvSpPr>
        <p:spPr>
          <a:xfrm>
            <a:off x="548640" y="658368"/>
            <a:ext cx="11064240" cy="914400"/>
          </a:xfrm>
          <a:prstGeom prst="rect">
            <a:avLst/>
          </a:prstGeom>
          <a:noFill/>
        </p:spPr>
        <p:txBody>
          <a:bodyPr wrap="square" lIns="0" rIns="0" tIns="0" bIns="0" anchor="t">
            <a:spAutoFit/>
          </a:bodyPr>
          <a:lstStyle/>
          <a:p>
            <a:pPr algn="l">
              <a:spcAft>
                <a:spcPts val="0"/>
              </a:spcAft>
            </a:pPr>
            <a:r>
              <a:rPr sz="2800" b="1" i="0">
                <a:solidFill>
                  <a:srgbClr val="14213D"/>
                </a:solidFill>
                <a:latin typeface="Calibri"/>
              </a:rPr>
              <a:t>Weekday pickups peak at 18:00, and 89.4% start in Manhattan</a:t>
            </a:r>
          </a:p>
        </p:txBody>
      </p:sp>
      <p:graphicFrame>
        <p:nvGraphicFramePr>
          <p:cNvPr id="4" name="Hourly pickups chart"/>
          <p:cNvGraphicFramePr>
            <a:graphicFrameLocks noGrp="1"/>
          </p:cNvGraphicFramePr>
          <p:nvPr/>
        </p:nvGraphicFramePr>
        <p:xfrm>
          <a:off x="548640" y="1691640"/>
          <a:ext cx="7223760" cy="4343400"/>
        </p:xfrm>
        <a:graphic>
          <a:graphicData uri="http://schemas.openxmlformats.org/drawingml/2006/chart">
            <c:chart xmlns:c="http://schemas.openxmlformats.org/drawingml/2006/chart" r:id="rId2"/>
          </a:graphicData>
        </a:graphic>
      </p:graphicFrame>
      <p:sp>
        <p:nvSpPr>
          <p:cNvPr id="5" name="Manhattan stat"/>
          <p:cNvSpPr txBox="1"/>
          <p:nvPr/>
        </p:nvSpPr>
        <p:spPr>
          <a:xfrm>
            <a:off x="8092440" y="1783080"/>
            <a:ext cx="3547872" cy="640080"/>
          </a:xfrm>
          <a:prstGeom prst="rect">
            <a:avLst/>
          </a:prstGeom>
          <a:noFill/>
        </p:spPr>
        <p:txBody>
          <a:bodyPr wrap="square" lIns="0" rIns="0" tIns="0" bIns="0" anchor="t">
            <a:spAutoFit/>
          </a:bodyPr>
          <a:lstStyle/>
          <a:p>
            <a:pPr algn="l">
              <a:spcAft>
                <a:spcPts val="0"/>
              </a:spcAft>
            </a:pPr>
            <a:r>
              <a:rPr sz="4000" b="1" i="0">
                <a:solidFill>
                  <a:srgbClr val="14213D"/>
                </a:solidFill>
                <a:latin typeface="Calibri"/>
              </a:rPr>
              <a:t>89.4%</a:t>
            </a:r>
          </a:p>
        </p:txBody>
      </p:sp>
      <p:sp>
        <p:nvSpPr>
          <p:cNvPr id="6" name="TextBox 5"/>
          <p:cNvSpPr txBox="1"/>
          <p:nvPr/>
        </p:nvSpPr>
        <p:spPr>
          <a:xfrm>
            <a:off x="8092440" y="2468880"/>
            <a:ext cx="3547872" cy="457200"/>
          </a:xfrm>
          <a:prstGeom prst="rect">
            <a:avLst/>
          </a:prstGeom>
          <a:noFill/>
        </p:spPr>
        <p:txBody>
          <a:bodyPr wrap="square" lIns="0" rIns="0" tIns="0" bIns="0" anchor="t">
            <a:spAutoFit/>
          </a:bodyPr>
          <a:lstStyle/>
          <a:p>
            <a:pPr algn="l">
              <a:spcAft>
                <a:spcPts val="0"/>
              </a:spcAft>
            </a:pPr>
            <a:r>
              <a:rPr sz="1400" b="0" i="0">
                <a:solidFill>
                  <a:srgbClr val="4B5563"/>
                </a:solidFill>
                <a:latin typeface="Calibri"/>
              </a:rPr>
              <a:t>of eligible pickups start in Manhattan</a:t>
            </a:r>
          </a:p>
        </p:txBody>
      </p:sp>
      <p:sp>
        <p:nvSpPr>
          <p:cNvPr id="7" name="Top zones stat"/>
          <p:cNvSpPr txBox="1"/>
          <p:nvPr/>
        </p:nvSpPr>
        <p:spPr>
          <a:xfrm>
            <a:off x="8092440" y="3017520"/>
            <a:ext cx="3547872" cy="640080"/>
          </a:xfrm>
          <a:prstGeom prst="rect">
            <a:avLst/>
          </a:prstGeom>
          <a:noFill/>
        </p:spPr>
        <p:txBody>
          <a:bodyPr wrap="square" lIns="0" rIns="0" tIns="0" bIns="0" anchor="t">
            <a:spAutoFit/>
          </a:bodyPr>
          <a:lstStyle/>
          <a:p>
            <a:pPr algn="l">
              <a:spcAft>
                <a:spcPts val="0"/>
              </a:spcAft>
            </a:pPr>
            <a:r>
              <a:rPr sz="4000" b="1" i="0">
                <a:solidFill>
                  <a:srgbClr val="14213D"/>
                </a:solidFill>
                <a:latin typeface="Calibri"/>
              </a:rPr>
              <a:t>50.6%</a:t>
            </a:r>
          </a:p>
        </p:txBody>
      </p:sp>
      <p:sp>
        <p:nvSpPr>
          <p:cNvPr id="8" name="TextBox 7"/>
          <p:cNvSpPr txBox="1"/>
          <p:nvPr/>
        </p:nvSpPr>
        <p:spPr>
          <a:xfrm>
            <a:off x="8092440" y="3703320"/>
            <a:ext cx="3547872" cy="457200"/>
          </a:xfrm>
          <a:prstGeom prst="rect">
            <a:avLst/>
          </a:prstGeom>
          <a:noFill/>
        </p:spPr>
        <p:txBody>
          <a:bodyPr wrap="square" lIns="0" rIns="0" tIns="0" bIns="0" anchor="t">
            <a:spAutoFit/>
          </a:bodyPr>
          <a:lstStyle/>
          <a:p>
            <a:pPr algn="l">
              <a:spcAft>
                <a:spcPts val="0"/>
              </a:spcAft>
            </a:pPr>
            <a:r>
              <a:rPr sz="1400" b="0" i="0">
                <a:solidFill>
                  <a:srgbClr val="4B5563"/>
                </a:solidFill>
                <a:latin typeface="Calibri"/>
              </a:rPr>
              <a:t>start in the top 15 of 259 pickup zones</a:t>
            </a:r>
          </a:p>
        </p:txBody>
      </p:sp>
      <p:sp>
        <p:nvSpPr>
          <p:cNvPr id="9" name="Fare insight"/>
          <p:cNvSpPr/>
          <p:nvPr/>
        </p:nvSpPr>
        <p:spPr>
          <a:xfrm>
            <a:off x="8092440" y="4206240"/>
            <a:ext cx="3547872" cy="1874519"/>
          </a:xfrm>
          <a:prstGeom prst="roundRect">
            <a:avLst>
              <a:gd name="adj" fmla="val 6000"/>
            </a:avLst>
          </a:prstGeom>
          <a:solidFill>
            <a:srgbClr val="FDF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93608" y="4343400"/>
            <a:ext cx="3145536" cy="457200"/>
          </a:xfrm>
          <a:prstGeom prst="rect">
            <a:avLst/>
          </a:prstGeom>
          <a:noFill/>
        </p:spPr>
        <p:txBody>
          <a:bodyPr wrap="square" lIns="0" rIns="0" tIns="0" bIns="0" anchor="t">
            <a:spAutoFit/>
          </a:bodyPr>
          <a:lstStyle/>
          <a:p>
            <a:pPr algn="l">
              <a:spcAft>
                <a:spcPts val="0"/>
              </a:spcAft>
            </a:pPr>
            <a:r>
              <a:rPr sz="1200" b="1" i="0">
                <a:solidFill>
                  <a:srgbClr val="14213D"/>
                </a:solidFill>
                <a:latin typeface="Calibri"/>
              </a:rPr>
              <a:t>Fares in the pm rush vs midday, at the same trip distance and duration</a:t>
            </a:r>
          </a:p>
        </p:txBody>
      </p:sp>
      <p:sp>
        <p:nvSpPr>
          <p:cNvPr id="11" name="TextBox 10"/>
          <p:cNvSpPr txBox="1"/>
          <p:nvPr/>
        </p:nvSpPr>
        <p:spPr>
          <a:xfrm>
            <a:off x="8293608" y="4800600"/>
            <a:ext cx="3145536" cy="777240"/>
          </a:xfrm>
          <a:prstGeom prst="rect">
            <a:avLst/>
          </a:prstGeom>
          <a:noFill/>
        </p:spPr>
        <p:txBody>
          <a:bodyPr wrap="square" lIns="0" rIns="0" tIns="0" bIns="0" anchor="t">
            <a:spAutoFit/>
          </a:bodyPr>
          <a:lstStyle/>
          <a:p>
            <a:pPr algn="l">
              <a:spcAft>
                <a:spcPts val="0"/>
              </a:spcAft>
            </a:pPr>
            <a:r>
              <a:rPr sz="2400" b="1" i="0">
                <a:solidFill>
                  <a:srgbClr val="14213D"/>
                </a:solidFill>
                <a:latin typeface="Calibri"/>
              </a:rPr>
              <a:t>−1.1%</a:t>
            </a:r>
            <a:r>
              <a:rPr sz="1300" b="0" i="0">
                <a:solidFill>
                  <a:srgbClr val="4B5563"/>
                </a:solidFill>
                <a:latin typeface="Calibri"/>
              </a:rPr>
              <a:t>  metered base fare</a:t>
            </a:r>
          </a:p>
          <a:p>
            <a:pPr algn="l">
              <a:spcAft>
                <a:spcPts val="0"/>
              </a:spcAft>
            </a:pPr>
            <a:r>
              <a:rPr sz="2400" b="1" i="0">
                <a:solidFill>
                  <a:srgbClr val="14213D"/>
                </a:solidFill>
                <a:latin typeface="Calibri"/>
              </a:rPr>
              <a:t>+11.2%</a:t>
            </a:r>
            <a:r>
              <a:rPr sz="1300" b="0" i="0">
                <a:solidFill>
                  <a:srgbClr val="4B5563"/>
                </a:solidFill>
                <a:latin typeface="Calibri"/>
              </a:rPr>
              <a:t>  total charge excl. tips</a:t>
            </a:r>
          </a:p>
        </p:txBody>
      </p:sp>
      <p:sp>
        <p:nvSpPr>
          <p:cNvPr id="12" name="TextBox 11"/>
          <p:cNvSpPr txBox="1"/>
          <p:nvPr/>
        </p:nvSpPr>
        <p:spPr>
          <a:xfrm>
            <a:off x="8293608" y="5623560"/>
            <a:ext cx="3145536" cy="384048"/>
          </a:xfrm>
          <a:prstGeom prst="rect">
            <a:avLst/>
          </a:prstGeom>
          <a:noFill/>
        </p:spPr>
        <p:txBody>
          <a:bodyPr wrap="square" lIns="0" rIns="0" tIns="0" bIns="0" anchor="t">
            <a:spAutoFit/>
          </a:bodyPr>
          <a:lstStyle/>
          <a:p>
            <a:pPr algn="l">
              <a:spcAft>
                <a:spcPts val="0"/>
              </a:spcAft>
            </a:pPr>
            <a:r>
              <a:rPr sz="1100" b="0" i="0">
                <a:solidFill>
                  <a:srgbClr val="4B5563"/>
                </a:solidFill>
                <a:latin typeface="Calibri"/>
              </a:rPr>
              <a:t>Consistent with the scheduled $2.50 rush-hour surcharge; not evidence of surge pricing.</a:t>
            </a:r>
          </a:p>
        </p:txBody>
      </p:sp>
      <p:sp>
        <p:nvSpPr>
          <p:cNvPr id="13" name="Source"/>
          <p:cNvSpPr txBox="1"/>
          <p:nvPr/>
        </p:nvSpPr>
        <p:spPr>
          <a:xfrm>
            <a:off x="548640" y="6382512"/>
            <a:ext cx="10424160" cy="320040"/>
          </a:xfrm>
          <a:prstGeom prst="rect">
            <a:avLst/>
          </a:prstGeom>
          <a:noFill/>
        </p:spPr>
        <p:txBody>
          <a:bodyPr wrap="square" lIns="0" rIns="0" tIns="0" bIns="0" anchor="t">
            <a:spAutoFit/>
          </a:bodyPr>
          <a:lstStyle/>
          <a:p>
            <a:pPr algn="l">
              <a:spcAft>
                <a:spcPts val="0"/>
              </a:spcAft>
            </a:pPr>
            <a:r>
              <a:rPr sz="1000" b="0" i="0">
                <a:solidFill>
                  <a:srgbClr val="6B7280"/>
                </a:solidFill>
                <a:latin typeface="Calibri"/>
              </a:rPr>
              <a:t>Source: NYC TLC Yellow Taxi trip records, January 2025 (nyc.gov/tlc). Completed trips only; eligibility rules per project Phase 2. Weekday = 21 non-holiday weekdays; weekend = 8 days. Fares: weekday standard-rate metered trips; Flex Fare excluded.</a:t>
            </a:r>
          </a:p>
        </p:txBody>
      </p:sp>
      <p:sp>
        <p:nvSpPr>
          <p:cNvPr id="14" name="Slide number"/>
          <p:cNvSpPr txBox="1"/>
          <p:nvPr/>
        </p:nvSpPr>
        <p:spPr>
          <a:xfrm>
            <a:off x="11185855" y="6382512"/>
            <a:ext cx="457200" cy="320040"/>
          </a:xfrm>
          <a:prstGeom prst="rect">
            <a:avLst/>
          </a:prstGeom>
          <a:noFill/>
        </p:spPr>
        <p:txBody>
          <a:bodyPr wrap="square" lIns="0" rIns="0" tIns="0" bIns="0" anchor="t">
            <a:spAutoFit/>
          </a:bodyPr>
          <a:lstStyle/>
          <a:p>
            <a:pPr algn="r">
              <a:spcAft>
                <a:spcPts val="0"/>
              </a:spcAft>
            </a:pPr>
            <a:r>
              <a:rPr sz="1000" b="0" i="0">
                <a:solidFill>
                  <a:srgbClr val="6B7280"/>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84048"/>
            <a:ext cx="10972800" cy="274320"/>
          </a:xfrm>
          <a:prstGeom prst="rect">
            <a:avLst/>
          </a:prstGeom>
          <a:noFill/>
        </p:spPr>
        <p:txBody>
          <a:bodyPr wrap="square" lIns="0" rIns="0" tIns="0" bIns="0" anchor="t">
            <a:spAutoFit/>
          </a:bodyPr>
          <a:lstStyle/>
          <a:p>
            <a:pPr algn="l">
              <a:spcAft>
                <a:spcPts val="0"/>
              </a:spcAft>
            </a:pPr>
            <a:r>
              <a:rPr sz="1200" b="1" i="0">
                <a:solidFill>
                  <a:srgbClr val="4B5563"/>
                </a:solidFill>
                <a:latin typeface="Calibri"/>
              </a:rPr>
              <a:t>PREDICTABLE DIRECTIONAL FLOWS · MIDTOWN CENTER</a:t>
            </a:r>
          </a:p>
        </p:txBody>
      </p:sp>
      <p:sp>
        <p:nvSpPr>
          <p:cNvPr id="3" name="Title"/>
          <p:cNvSpPr txBox="1"/>
          <p:nvPr/>
        </p:nvSpPr>
        <p:spPr>
          <a:xfrm>
            <a:off x="548640" y="658368"/>
            <a:ext cx="11064240" cy="914400"/>
          </a:xfrm>
          <a:prstGeom prst="rect">
            <a:avLst/>
          </a:prstGeom>
          <a:noFill/>
        </p:spPr>
        <p:txBody>
          <a:bodyPr wrap="square" lIns="0" rIns="0" tIns="0" bIns="0" anchor="t">
            <a:spAutoFit/>
          </a:bodyPr>
          <a:lstStyle/>
          <a:p>
            <a:pPr algn="l">
              <a:spcAft>
                <a:spcPts val="0"/>
              </a:spcAft>
            </a:pPr>
            <a:r>
              <a:rPr sz="2800" b="1" i="0">
                <a:solidFill>
                  <a:srgbClr val="14213D"/>
                </a:solidFill>
                <a:latin typeface="Calibri"/>
              </a:rPr>
              <a:t>Midtown Center receives more trips than it sends every weekday morning, and the reverse every evening</a:t>
            </a:r>
          </a:p>
        </p:txBody>
      </p:sp>
      <p:graphicFrame>
        <p:nvGraphicFramePr>
          <p:cNvPr id="4" name="Midtown net flow chart"/>
          <p:cNvGraphicFramePr>
            <a:graphicFrameLocks noGrp="1"/>
          </p:cNvGraphicFramePr>
          <p:nvPr/>
        </p:nvGraphicFramePr>
        <p:xfrm>
          <a:off x="548640" y="1691640"/>
          <a:ext cx="7498079" cy="4343400"/>
        </p:xfrm>
        <a:graphic>
          <a:graphicData uri="http://schemas.openxmlformats.org/drawingml/2006/chart">
            <c:chart xmlns:c="http://schemas.openxmlformats.org/drawingml/2006/chart" r:id="rId2"/>
          </a:graphicData>
        </a:graphic>
      </p:graphicFrame>
      <p:sp>
        <p:nvSpPr>
          <p:cNvPr id="5" name="TextBox 4"/>
          <p:cNvSpPr txBox="1"/>
          <p:nvPr/>
        </p:nvSpPr>
        <p:spPr>
          <a:xfrm>
            <a:off x="8366760" y="1783080"/>
            <a:ext cx="3273552" cy="548640"/>
          </a:xfrm>
          <a:prstGeom prst="rect">
            <a:avLst/>
          </a:prstGeom>
          <a:noFill/>
        </p:spPr>
        <p:txBody>
          <a:bodyPr wrap="square" lIns="0" rIns="0" tIns="0" bIns="0" anchor="t">
            <a:spAutoFit/>
          </a:bodyPr>
          <a:lstStyle/>
          <a:p>
            <a:pPr algn="l">
              <a:spcAft>
                <a:spcPts val="0"/>
              </a:spcAft>
            </a:pPr>
            <a:r>
              <a:rPr sz="3200" b="1" i="0">
                <a:solidFill>
                  <a:srgbClr val="14213D"/>
                </a:solidFill>
                <a:latin typeface="Calibri"/>
              </a:rPr>
              <a:t>21 / 21</a:t>
            </a:r>
          </a:p>
        </p:txBody>
      </p:sp>
      <p:sp>
        <p:nvSpPr>
          <p:cNvPr id="6" name="TextBox 5"/>
          <p:cNvSpPr txBox="1"/>
          <p:nvPr/>
        </p:nvSpPr>
        <p:spPr>
          <a:xfrm>
            <a:off x="8366760" y="2350008"/>
            <a:ext cx="3273552" cy="594360"/>
          </a:xfrm>
          <a:prstGeom prst="rect">
            <a:avLst/>
          </a:prstGeom>
          <a:noFill/>
        </p:spPr>
        <p:txBody>
          <a:bodyPr wrap="square" lIns="0" rIns="0" tIns="0" bIns="0" anchor="t">
            <a:spAutoFit/>
          </a:bodyPr>
          <a:lstStyle/>
          <a:p>
            <a:pPr algn="l">
              <a:spcAft>
                <a:spcPts val="0"/>
              </a:spcAft>
            </a:pPr>
            <a:r>
              <a:rPr sz="1300" b="0" i="0">
                <a:solidFill>
                  <a:srgbClr val="4B5563"/>
                </a:solidFill>
                <a:latin typeface="Calibri"/>
              </a:rPr>
              <a:t>weekdays net inbound in each hour from 07:00 to 09:59</a:t>
            </a:r>
          </a:p>
        </p:txBody>
      </p:sp>
      <p:sp>
        <p:nvSpPr>
          <p:cNvPr id="7" name="TextBox 6"/>
          <p:cNvSpPr txBox="1"/>
          <p:nvPr/>
        </p:nvSpPr>
        <p:spPr>
          <a:xfrm>
            <a:off x="8366760" y="3044952"/>
            <a:ext cx="3273552" cy="548640"/>
          </a:xfrm>
          <a:prstGeom prst="rect">
            <a:avLst/>
          </a:prstGeom>
          <a:noFill/>
        </p:spPr>
        <p:txBody>
          <a:bodyPr wrap="square" lIns="0" rIns="0" tIns="0" bIns="0" anchor="t">
            <a:spAutoFit/>
          </a:bodyPr>
          <a:lstStyle/>
          <a:p>
            <a:pPr algn="l">
              <a:spcAft>
                <a:spcPts val="0"/>
              </a:spcAft>
            </a:pPr>
            <a:r>
              <a:rPr sz="3200" b="1" i="0">
                <a:solidFill>
                  <a:srgbClr val="14213D"/>
                </a:solidFill>
                <a:latin typeface="Calibri"/>
              </a:rPr>
              <a:t>21 / 21</a:t>
            </a:r>
          </a:p>
        </p:txBody>
      </p:sp>
      <p:sp>
        <p:nvSpPr>
          <p:cNvPr id="8" name="TextBox 7"/>
          <p:cNvSpPr txBox="1"/>
          <p:nvPr/>
        </p:nvSpPr>
        <p:spPr>
          <a:xfrm>
            <a:off x="8366760" y="3611880"/>
            <a:ext cx="3273552" cy="594360"/>
          </a:xfrm>
          <a:prstGeom prst="rect">
            <a:avLst/>
          </a:prstGeom>
          <a:noFill/>
        </p:spPr>
        <p:txBody>
          <a:bodyPr wrap="square" lIns="0" rIns="0" tIns="0" bIns="0" anchor="t">
            <a:spAutoFit/>
          </a:bodyPr>
          <a:lstStyle/>
          <a:p>
            <a:pPr algn="l">
              <a:spcAft>
                <a:spcPts val="0"/>
              </a:spcAft>
            </a:pPr>
            <a:r>
              <a:rPr sz="1300" b="0" i="0">
                <a:solidFill>
                  <a:srgbClr val="4B5563"/>
                </a:solidFill>
                <a:latin typeface="Calibri"/>
              </a:rPr>
              <a:t>weekdays net outbound in each hour from 17:00 to 21:59</a:t>
            </a:r>
          </a:p>
        </p:txBody>
      </p:sp>
      <p:sp>
        <p:nvSpPr>
          <p:cNvPr id="9" name="TextBox 8"/>
          <p:cNvSpPr txBox="1"/>
          <p:nvPr/>
        </p:nvSpPr>
        <p:spPr>
          <a:xfrm>
            <a:off x="8366760" y="4306824"/>
            <a:ext cx="3273552" cy="548640"/>
          </a:xfrm>
          <a:prstGeom prst="rect">
            <a:avLst/>
          </a:prstGeom>
          <a:noFill/>
        </p:spPr>
        <p:txBody>
          <a:bodyPr wrap="square" lIns="0" rIns="0" tIns="0" bIns="0" anchor="t">
            <a:spAutoFit/>
          </a:bodyPr>
          <a:lstStyle/>
          <a:p>
            <a:pPr algn="l">
              <a:spcAft>
                <a:spcPts val="0"/>
              </a:spcAft>
            </a:pPr>
            <a:r>
              <a:rPr sz="3200" b="1" i="0">
                <a:solidFill>
                  <a:srgbClr val="14213D"/>
                </a:solidFill>
                <a:latin typeface="Calibri"/>
              </a:rPr>
              <a:t>225 / 228</a:t>
            </a:r>
          </a:p>
        </p:txBody>
      </p:sp>
      <p:sp>
        <p:nvSpPr>
          <p:cNvPr id="10" name="TextBox 9"/>
          <p:cNvSpPr txBox="1"/>
          <p:nvPr/>
        </p:nvSpPr>
        <p:spPr>
          <a:xfrm>
            <a:off x="8366760" y="4873752"/>
            <a:ext cx="3273552" cy="594360"/>
          </a:xfrm>
          <a:prstGeom prst="rect">
            <a:avLst/>
          </a:prstGeom>
          <a:noFill/>
        </p:spPr>
        <p:txBody>
          <a:bodyPr wrap="square" lIns="0" rIns="0" tIns="0" bIns="0" anchor="t">
            <a:spAutoFit/>
          </a:bodyPr>
          <a:lstStyle/>
          <a:p>
            <a:pPr algn="l">
              <a:spcAft>
                <a:spcPts val="0"/>
              </a:spcAft>
            </a:pPr>
            <a:r>
              <a:rPr sz="1300" b="0" i="0">
                <a:solidFill>
                  <a:srgbClr val="4B5563"/>
                </a:solidFill>
                <a:latin typeface="Calibri"/>
              </a:rPr>
              <a:t>strongly imbalanced weekday zone-hours citywide keep their direction on ≥ 90% of days</a:t>
            </a:r>
          </a:p>
        </p:txBody>
      </p:sp>
      <p:sp>
        <p:nvSpPr>
          <p:cNvPr id="11" name="Definition"/>
          <p:cNvSpPr/>
          <p:nvPr/>
        </p:nvSpPr>
        <p:spPr>
          <a:xfrm>
            <a:off x="8366760" y="5486400"/>
            <a:ext cx="3273552" cy="713232"/>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31352" y="5559552"/>
            <a:ext cx="2944368" cy="585216"/>
          </a:xfrm>
          <a:prstGeom prst="rect">
            <a:avLst/>
          </a:prstGeom>
          <a:noFill/>
        </p:spPr>
        <p:txBody>
          <a:bodyPr wrap="square" lIns="0" rIns="0" tIns="0" bIns="0" anchor="ctr">
            <a:spAutoFit/>
          </a:bodyPr>
          <a:lstStyle/>
          <a:p>
            <a:pPr algn="l">
              <a:spcAft>
                <a:spcPts val="0"/>
              </a:spcAft>
            </a:pPr>
            <a:r>
              <a:rPr sz="1100" b="0" i="0">
                <a:solidFill>
                  <a:srgbClr val="1F2937"/>
                </a:solidFill>
                <a:latin typeface="Calibri"/>
              </a:rPr>
              <a:t>Net flow = pickups minus drop-offs of completed trips: a passenger-flow pattern, not a count of available taxis or unmet demand.</a:t>
            </a:r>
          </a:p>
        </p:txBody>
      </p:sp>
      <p:sp>
        <p:nvSpPr>
          <p:cNvPr id="13" name="Source"/>
          <p:cNvSpPr txBox="1"/>
          <p:nvPr/>
        </p:nvSpPr>
        <p:spPr>
          <a:xfrm>
            <a:off x="548640" y="6382512"/>
            <a:ext cx="10424160" cy="320040"/>
          </a:xfrm>
          <a:prstGeom prst="rect">
            <a:avLst/>
          </a:prstGeom>
          <a:noFill/>
        </p:spPr>
        <p:txBody>
          <a:bodyPr wrap="square" lIns="0" rIns="0" tIns="0" bIns="0" anchor="t">
            <a:spAutoFit/>
          </a:bodyPr>
          <a:lstStyle/>
          <a:p>
            <a:pPr algn="l">
              <a:spcAft>
                <a:spcPts val="0"/>
              </a:spcAft>
            </a:pPr>
            <a:r>
              <a:rPr sz="1000" b="0" i="0">
                <a:solidFill>
                  <a:srgbClr val="6B7280"/>
                </a:solidFill>
                <a:latin typeface="Calibri"/>
              </a:rPr>
              <a:t>Source: NYC TLC Yellow Taxi trip records, January 2025 (nyc.gov/tlc). Completed trips only; eligibility rules per project Phase 2. Midtown Center = TLC zone 161; pickups use eligible_demand, drop-offs are validated separately (eligible_dropoff).</a:t>
            </a:r>
          </a:p>
        </p:txBody>
      </p:sp>
      <p:sp>
        <p:nvSpPr>
          <p:cNvPr id="14" name="Slide number"/>
          <p:cNvSpPr txBox="1"/>
          <p:nvPr/>
        </p:nvSpPr>
        <p:spPr>
          <a:xfrm>
            <a:off x="11185855" y="6382512"/>
            <a:ext cx="457200" cy="320040"/>
          </a:xfrm>
          <a:prstGeom prst="rect">
            <a:avLst/>
          </a:prstGeom>
          <a:noFill/>
        </p:spPr>
        <p:txBody>
          <a:bodyPr wrap="square" lIns="0" rIns="0" tIns="0" bIns="0" anchor="t">
            <a:spAutoFit/>
          </a:bodyPr>
          <a:lstStyle/>
          <a:p>
            <a:pPr algn="r">
              <a:spcAft>
                <a:spcPts val="0"/>
              </a:spcAft>
            </a:pPr>
            <a:r>
              <a:rPr sz="1000" b="0" i="0">
                <a:solidFill>
                  <a:srgbClr val="6B7280"/>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84048"/>
            <a:ext cx="10972800" cy="274320"/>
          </a:xfrm>
          <a:prstGeom prst="rect">
            <a:avLst/>
          </a:prstGeom>
          <a:noFill/>
        </p:spPr>
        <p:txBody>
          <a:bodyPr wrap="square" lIns="0" rIns="0" tIns="0" bIns="0" anchor="t">
            <a:spAutoFit/>
          </a:bodyPr>
          <a:lstStyle/>
          <a:p>
            <a:pPr algn="l">
              <a:spcAft>
                <a:spcPts val="0"/>
              </a:spcAft>
            </a:pPr>
            <a:r>
              <a:rPr sz="1200" b="1" i="0">
                <a:solidFill>
                  <a:srgbClr val="4B5563"/>
                </a:solidFill>
                <a:latin typeface="Calibri"/>
              </a:rPr>
              <a:t>OPERATIONAL ZONE SEGMENTATION</a:t>
            </a:r>
          </a:p>
        </p:txBody>
      </p:sp>
      <p:sp>
        <p:nvSpPr>
          <p:cNvPr id="3" name="Title"/>
          <p:cNvSpPr txBox="1"/>
          <p:nvPr/>
        </p:nvSpPr>
        <p:spPr>
          <a:xfrm>
            <a:off x="548640" y="658368"/>
            <a:ext cx="11064240" cy="914400"/>
          </a:xfrm>
          <a:prstGeom prst="rect">
            <a:avLst/>
          </a:prstGeom>
          <a:noFill/>
        </p:spPr>
        <p:txBody>
          <a:bodyPr wrap="square" lIns="0" rIns="0" tIns="0" bIns="0" anchor="t">
            <a:spAutoFit/>
          </a:bodyPr>
          <a:lstStyle/>
          <a:p>
            <a:pPr algn="l">
              <a:spcAft>
                <a:spcPts val="0"/>
              </a:spcAft>
            </a:pPr>
            <a:r>
              <a:rPr sz="2800" b="1" i="0">
                <a:solidFill>
                  <a:srgbClr val="14213D"/>
                </a:solidFill>
                <a:latin typeface="Calibri"/>
              </a:rPr>
              <a:t>Two high-volume zone segments with opposite morning flows carry 78.7% of pickups</a:t>
            </a:r>
          </a:p>
        </p:txBody>
      </p:sp>
      <p:sp>
        <p:nvSpPr>
          <p:cNvPr id="4" name="TextBox 3"/>
          <p:cNvSpPr txBox="1"/>
          <p:nvPr/>
        </p:nvSpPr>
        <p:spPr>
          <a:xfrm>
            <a:off x="548640" y="1737360"/>
            <a:ext cx="6309360" cy="320040"/>
          </a:xfrm>
          <a:prstGeom prst="rect">
            <a:avLst/>
          </a:prstGeom>
          <a:noFill/>
        </p:spPr>
        <p:txBody>
          <a:bodyPr wrap="square" lIns="0" rIns="0" tIns="0" bIns="0" anchor="t">
            <a:spAutoFit/>
          </a:bodyPr>
          <a:lstStyle/>
          <a:p>
            <a:pPr algn="l">
              <a:spcAft>
                <a:spcPts val="0"/>
              </a:spcAft>
            </a:pPr>
            <a:r>
              <a:rPr sz="1300" b="1" i="0">
                <a:solidFill>
                  <a:srgbClr val="14213D"/>
                </a:solidFill>
                <a:latin typeface="Calibri"/>
              </a:rPr>
              <a:t>Share of all 3,402,692 eligible pickups</a:t>
            </a:r>
          </a:p>
        </p:txBody>
      </p:sp>
      <p:graphicFrame>
        <p:nvGraphicFramePr>
          <p:cNvPr id="5" name="Segment share chart"/>
          <p:cNvGraphicFramePr>
            <a:graphicFrameLocks noGrp="1"/>
          </p:cNvGraphicFramePr>
          <p:nvPr/>
        </p:nvGraphicFramePr>
        <p:xfrm>
          <a:off x="548640" y="2057400"/>
          <a:ext cx="6309360" cy="3611880"/>
        </p:xfrm>
        <a:graphic>
          <a:graphicData uri="http://schemas.openxmlformats.org/drawingml/2006/chart">
            <c:chart xmlns:c="http://schemas.openxmlformats.org/drawingml/2006/chart" r:id="rId2"/>
          </a:graphicData>
        </a:graphic>
      </p:graphicFrame>
      <p:sp>
        <p:nvSpPr>
          <p:cNvPr id="6" name="TextBox 5"/>
          <p:cNvSpPr txBox="1"/>
          <p:nvPr/>
        </p:nvSpPr>
        <p:spPr>
          <a:xfrm>
            <a:off x="7178040" y="1737360"/>
            <a:ext cx="4462272" cy="320040"/>
          </a:xfrm>
          <a:prstGeom prst="rect">
            <a:avLst/>
          </a:prstGeom>
          <a:noFill/>
        </p:spPr>
        <p:txBody>
          <a:bodyPr wrap="square" lIns="0" rIns="0" tIns="0" bIns="0" anchor="t">
            <a:spAutoFit/>
          </a:bodyPr>
          <a:lstStyle/>
          <a:p>
            <a:pPr algn="l">
              <a:spcAft>
                <a:spcPts val="0"/>
              </a:spcAft>
            </a:pPr>
            <a:r>
              <a:rPr sz="1300" b="1" i="0">
                <a:solidFill>
                  <a:srgbClr val="14213D"/>
                </a:solidFill>
                <a:latin typeface="Calibri"/>
              </a:rPr>
              <a:t>What defines each segment (medians)</a:t>
            </a:r>
          </a:p>
        </p:txBody>
      </p:sp>
      <p:sp>
        <p:nvSpPr>
          <p:cNvPr id="7" name="Oval 6"/>
          <p:cNvSpPr/>
          <p:nvPr/>
        </p:nvSpPr>
        <p:spPr>
          <a:xfrm>
            <a:off x="7178040" y="2157984"/>
            <a:ext cx="164592" cy="164592"/>
          </a:xfrm>
          <a:prstGeom prst="ellipse">
            <a:avLst/>
          </a:prstGeom>
          <a:solidFill>
            <a:srgbClr val="14213D"/>
          </a:solidFill>
          <a:ln>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52360" y="2103120"/>
            <a:ext cx="4187952" cy="676656"/>
          </a:xfrm>
          <a:prstGeom prst="rect">
            <a:avLst/>
          </a:prstGeom>
          <a:noFill/>
        </p:spPr>
        <p:txBody>
          <a:bodyPr wrap="square" lIns="0" rIns="0" tIns="0" bIns="0" anchor="t">
            <a:spAutoFit/>
          </a:bodyPr>
          <a:lstStyle/>
          <a:p>
            <a:pPr algn="l">
              <a:spcAft>
                <a:spcPts val="0"/>
              </a:spcAft>
            </a:pPr>
            <a:r>
              <a:rPr sz="1300" b="1" i="0">
                <a:solidFill>
                  <a:srgbClr val="1F2937"/>
                </a:solidFill>
                <a:latin typeface="Calibri"/>
              </a:rPr>
              <a:t>High volume, morning outflow</a:t>
            </a:r>
            <a:r>
              <a:rPr sz="1200" b="0" i="0">
                <a:solidFill>
                  <a:srgbClr val="6B7280"/>
                </a:solidFill>
                <a:latin typeface="Calibri"/>
              </a:rPr>
              <a:t>  ·  21 zones</a:t>
            </a:r>
          </a:p>
          <a:p>
            <a:pPr algn="l">
              <a:spcAft>
                <a:spcPts val="0"/>
              </a:spcAft>
            </a:pPr>
            <a:r>
              <a:rPr sz="1200" b="0" i="0">
                <a:solidFill>
                  <a:srgbClr val="4B5563"/>
                </a:solidFill>
                <a:latin typeface="Calibri"/>
              </a:rPr>
              <a:t>Busiest zones; more pickups than drop-offs 06–09</a:t>
            </a:r>
          </a:p>
          <a:p>
            <a:pPr algn="l">
              <a:spcAft>
                <a:spcPts val="0"/>
              </a:spcAft>
            </a:pPr>
            <a:r>
              <a:rPr sz="1100" b="0" i="0">
                <a:solidFill>
                  <a:srgbClr val="6B7280"/>
                </a:solidFill>
                <a:latin typeface="Calibri"/>
              </a:rPr>
              <a:t>e.g. Upper East Side, Penn Station</a:t>
            </a:r>
          </a:p>
        </p:txBody>
      </p:sp>
      <p:sp>
        <p:nvSpPr>
          <p:cNvPr id="9" name="Oval 8"/>
          <p:cNvSpPr/>
          <p:nvPr/>
        </p:nvSpPr>
        <p:spPr>
          <a:xfrm>
            <a:off x="7178040" y="2871216"/>
            <a:ext cx="164592" cy="164592"/>
          </a:xfrm>
          <a:prstGeom prst="ellipse">
            <a:avLst/>
          </a:prstGeom>
          <a:solidFill>
            <a:srgbClr val="3B5B8C"/>
          </a:solidFill>
          <a:ln>
            <a:solidFill>
              <a:srgbClr val="3B5B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52360" y="2816352"/>
            <a:ext cx="4187952" cy="676656"/>
          </a:xfrm>
          <a:prstGeom prst="rect">
            <a:avLst/>
          </a:prstGeom>
          <a:noFill/>
        </p:spPr>
        <p:txBody>
          <a:bodyPr wrap="square" lIns="0" rIns="0" tIns="0" bIns="0" anchor="t">
            <a:spAutoFit/>
          </a:bodyPr>
          <a:lstStyle/>
          <a:p>
            <a:pPr algn="l">
              <a:spcAft>
                <a:spcPts val="0"/>
              </a:spcAft>
            </a:pPr>
            <a:r>
              <a:rPr sz="1300" b="1" i="0">
                <a:solidFill>
                  <a:srgbClr val="1F2937"/>
                </a:solidFill>
                <a:latin typeface="Calibri"/>
              </a:rPr>
              <a:t>High volume, morning inflow</a:t>
            </a:r>
            <a:r>
              <a:rPr sz="1200" b="0" i="0">
                <a:solidFill>
                  <a:srgbClr val="6B7280"/>
                </a:solidFill>
                <a:latin typeface="Calibri"/>
              </a:rPr>
              <a:t>  ·  23 zones</a:t>
            </a:r>
          </a:p>
          <a:p>
            <a:pPr algn="l">
              <a:spcAft>
                <a:spcPts val="0"/>
              </a:spcAft>
            </a:pPr>
            <a:r>
              <a:rPr sz="1200" b="0" i="0">
                <a:solidFill>
                  <a:srgbClr val="4B5563"/>
                </a:solidFill>
                <a:latin typeface="Calibri"/>
              </a:rPr>
              <a:t>More drop-offs than pickups 06–09; 35% of pickups 16–19</a:t>
            </a:r>
          </a:p>
          <a:p>
            <a:pPr algn="l">
              <a:spcAft>
                <a:spcPts val="0"/>
              </a:spcAft>
            </a:pPr>
            <a:r>
              <a:rPr sz="1100" b="0" i="0">
                <a:solidFill>
                  <a:srgbClr val="6B7280"/>
                </a:solidFill>
                <a:latin typeface="Calibri"/>
              </a:rPr>
              <a:t>e.g. Midtown, Times Square</a:t>
            </a:r>
          </a:p>
        </p:txBody>
      </p:sp>
      <p:sp>
        <p:nvSpPr>
          <p:cNvPr id="11" name="Oval 10"/>
          <p:cNvSpPr/>
          <p:nvPr/>
        </p:nvSpPr>
        <p:spPr>
          <a:xfrm>
            <a:off x="7178040" y="3584448"/>
            <a:ext cx="164592" cy="164592"/>
          </a:xfrm>
          <a:prstGeom prst="ellipse">
            <a:avLst/>
          </a:prstGeom>
          <a:solidFill>
            <a:srgbClr val="F2B705"/>
          </a:solidFill>
          <a:ln>
            <a:solidFill>
              <a:srgbClr val="B8C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3529584"/>
            <a:ext cx="4187952" cy="676656"/>
          </a:xfrm>
          <a:prstGeom prst="rect">
            <a:avLst/>
          </a:prstGeom>
          <a:noFill/>
        </p:spPr>
        <p:txBody>
          <a:bodyPr wrap="square" lIns="0" rIns="0" tIns="0" bIns="0" anchor="t">
            <a:spAutoFit/>
          </a:bodyPr>
          <a:lstStyle/>
          <a:p>
            <a:pPr algn="l">
              <a:spcAft>
                <a:spcPts val="0"/>
              </a:spcAft>
            </a:pPr>
            <a:r>
              <a:rPr sz="1300" b="1" i="0">
                <a:solidFill>
                  <a:srgbClr val="1F2937"/>
                </a:solidFill>
                <a:latin typeface="Calibri"/>
              </a:rPr>
              <a:t>Weekend and late night</a:t>
            </a:r>
            <a:r>
              <a:rPr sz="1200" b="0" i="0">
                <a:solidFill>
                  <a:srgbClr val="6B7280"/>
                </a:solidFill>
                <a:latin typeface="Calibri"/>
              </a:rPr>
              <a:t>  ·  13 zones</a:t>
            </a:r>
          </a:p>
          <a:p>
            <a:pPr algn="l">
              <a:spcAft>
                <a:spcPts val="0"/>
              </a:spcAft>
            </a:pPr>
            <a:r>
              <a:rPr sz="1200" b="0" i="0">
                <a:solidFill>
                  <a:srgbClr val="4B5563"/>
                </a:solidFill>
                <a:latin typeface="Calibri"/>
              </a:rPr>
              <a:t>Weekend rate 2.7× weekday; 46% of weekend pickups 00–03</a:t>
            </a:r>
          </a:p>
          <a:p>
            <a:pPr algn="l">
              <a:spcAft>
                <a:spcPts val="0"/>
              </a:spcAft>
            </a:pPr>
            <a:r>
              <a:rPr sz="1100" b="0" i="0">
                <a:solidFill>
                  <a:srgbClr val="6B7280"/>
                </a:solidFill>
                <a:latin typeface="Calibri"/>
              </a:rPr>
              <a:t>e.g. East &amp; West Village</a:t>
            </a:r>
          </a:p>
        </p:txBody>
      </p:sp>
      <p:sp>
        <p:nvSpPr>
          <p:cNvPr id="13" name="Oval 12"/>
          <p:cNvSpPr/>
          <p:nvPr/>
        </p:nvSpPr>
        <p:spPr>
          <a:xfrm>
            <a:off x="7178040" y="4297680"/>
            <a:ext cx="164592" cy="164592"/>
          </a:xfrm>
          <a:prstGeom prst="ellipse">
            <a:avLst/>
          </a:prstGeom>
          <a:solidFill>
            <a:srgbClr val="8FA3BF"/>
          </a:solidFill>
          <a:ln>
            <a:solidFill>
              <a:srgbClr val="8FA3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52360" y="4242816"/>
            <a:ext cx="4187952" cy="676656"/>
          </a:xfrm>
          <a:prstGeom prst="rect">
            <a:avLst/>
          </a:prstGeom>
          <a:noFill/>
        </p:spPr>
        <p:txBody>
          <a:bodyPr wrap="square" lIns="0" rIns="0" tIns="0" bIns="0" anchor="t">
            <a:spAutoFit/>
          </a:bodyPr>
          <a:lstStyle/>
          <a:p>
            <a:pPr algn="l">
              <a:spcAft>
                <a:spcPts val="0"/>
              </a:spcAft>
            </a:pPr>
            <a:r>
              <a:rPr sz="1300" b="1" i="0">
                <a:solidFill>
                  <a:srgbClr val="1F2937"/>
                </a:solidFill>
                <a:latin typeface="Calibri"/>
              </a:rPr>
              <a:t>Mid volume, evening inflow</a:t>
            </a:r>
            <a:r>
              <a:rPr sz="1200" b="0" i="0">
                <a:solidFill>
                  <a:srgbClr val="6B7280"/>
                </a:solidFill>
                <a:latin typeface="Calibri"/>
              </a:rPr>
              <a:t>  ·  24 zones</a:t>
            </a:r>
          </a:p>
          <a:p>
            <a:pPr algn="l">
              <a:spcAft>
                <a:spcPts val="0"/>
              </a:spcAft>
            </a:pPr>
            <a:r>
              <a:rPr sz="1200" b="0" i="0">
                <a:solidFill>
                  <a:srgbClr val="4B5563"/>
                </a:solidFill>
                <a:latin typeface="Calibri"/>
              </a:rPr>
              <a:t>More drop-offs than pickups in the evening; ~4 mi trips</a:t>
            </a:r>
          </a:p>
          <a:p>
            <a:pPr algn="l">
              <a:spcAft>
                <a:spcPts val="0"/>
              </a:spcAft>
            </a:pPr>
            <a:r>
              <a:rPr sz="1100" b="0" i="0">
                <a:solidFill>
                  <a:srgbClr val="6B7280"/>
                </a:solidFill>
                <a:latin typeface="Calibri"/>
              </a:rPr>
              <a:t>e.g. East Harlem, Clinton West</a:t>
            </a:r>
          </a:p>
        </p:txBody>
      </p:sp>
      <p:sp>
        <p:nvSpPr>
          <p:cNvPr id="15" name="Oval 14"/>
          <p:cNvSpPr/>
          <p:nvPr/>
        </p:nvSpPr>
        <p:spPr>
          <a:xfrm>
            <a:off x="7178040" y="5010912"/>
            <a:ext cx="164592" cy="164592"/>
          </a:xfrm>
          <a:prstGeom prst="ellipse">
            <a:avLst/>
          </a:prstGeom>
          <a:solidFill>
            <a:srgbClr val="C9D3E0"/>
          </a:solidFill>
          <a:ln>
            <a:solidFill>
              <a:srgbClr val="B8C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52360" y="4956048"/>
            <a:ext cx="4187952" cy="676656"/>
          </a:xfrm>
          <a:prstGeom prst="rect">
            <a:avLst/>
          </a:prstGeom>
          <a:noFill/>
        </p:spPr>
        <p:txBody>
          <a:bodyPr wrap="square" lIns="0" rIns="0" tIns="0" bIns="0" anchor="t">
            <a:spAutoFit/>
          </a:bodyPr>
          <a:lstStyle/>
          <a:p>
            <a:pPr algn="l">
              <a:spcAft>
                <a:spcPts val="0"/>
              </a:spcAft>
            </a:pPr>
            <a:r>
              <a:rPr sz="1300" b="1" i="0">
                <a:solidFill>
                  <a:srgbClr val="1F2937"/>
                </a:solidFill>
                <a:latin typeface="Calibri"/>
              </a:rPr>
              <a:t>Low volume, morning-heavy</a:t>
            </a:r>
            <a:r>
              <a:rPr sz="1200" b="0" i="0">
                <a:solidFill>
                  <a:srgbClr val="6B7280"/>
                </a:solidFill>
                <a:latin typeface="Calibri"/>
              </a:rPr>
              <a:t>  ·  20 zones</a:t>
            </a:r>
          </a:p>
          <a:p>
            <a:pPr algn="l">
              <a:spcAft>
                <a:spcPts val="0"/>
              </a:spcAft>
            </a:pPr>
            <a:r>
              <a:rPr sz="1200" b="0" i="0">
                <a:solidFill>
                  <a:srgbClr val="4B5563"/>
                </a:solidFill>
                <a:latin typeface="Calibri"/>
              </a:rPr>
              <a:t>41% of weekday pickups 06–09; ~25 min trips</a:t>
            </a:r>
          </a:p>
          <a:p>
            <a:pPr algn="l">
              <a:spcAft>
                <a:spcPts val="0"/>
              </a:spcAft>
            </a:pPr>
            <a:r>
              <a:rPr sz="1100" b="0" i="0">
                <a:solidFill>
                  <a:srgbClr val="6B7280"/>
                </a:solidFill>
                <a:latin typeface="Calibri"/>
              </a:rPr>
              <a:t>e.g. Outer Brooklyn &amp; Queens</a:t>
            </a:r>
          </a:p>
        </p:txBody>
      </p:sp>
      <p:sp>
        <p:nvSpPr>
          <p:cNvPr id="17" name="Disclosure"/>
          <p:cNvSpPr/>
          <p:nvPr/>
        </p:nvSpPr>
        <p:spPr>
          <a:xfrm>
            <a:off x="548640" y="5760720"/>
            <a:ext cx="11091672" cy="530352"/>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5815584"/>
            <a:ext cx="10744200" cy="438912"/>
          </a:xfrm>
          <a:prstGeom prst="rect">
            <a:avLst/>
          </a:prstGeom>
          <a:noFill/>
        </p:spPr>
        <p:txBody>
          <a:bodyPr wrap="square" lIns="0" rIns="0" tIns="0" bIns="0" anchor="ctr">
            <a:spAutoFit/>
          </a:bodyPr>
          <a:lstStyle/>
          <a:p>
            <a:pPr algn="l">
              <a:spcAft>
                <a:spcPts val="0"/>
              </a:spcAft>
            </a:pPr>
            <a:r>
              <a:rPr sz="1200" b="1" i="0">
                <a:solidFill>
                  <a:srgbClr val="14213D"/>
                </a:solidFill>
                <a:latin typeface="Calibri"/>
              </a:rPr>
              <a:t>How to read this  </a:t>
            </a:r>
            <a:r>
              <a:rPr sz="1200" b="0" i="0">
                <a:solidFill>
                  <a:srgbClr val="1F2937"/>
                </a:solidFill>
                <a:latin typeface="Calibri"/>
              </a:rPr>
              <a:t>5 k-means segments (Model A, analyst-selected; the pre-specified rule chose k = 2) plus a separately defined airport category, not six clusters. Membership is sensitive to feature weighting (20 of 101 zones move; 72.4% of pickups stay); the weekend/late-night segment is the most sensitive.</a:t>
            </a:r>
          </a:p>
        </p:txBody>
      </p:sp>
      <p:sp>
        <p:nvSpPr>
          <p:cNvPr id="19" name="Source"/>
          <p:cNvSpPr txBox="1"/>
          <p:nvPr/>
        </p:nvSpPr>
        <p:spPr>
          <a:xfrm>
            <a:off x="548640" y="6382512"/>
            <a:ext cx="10424160" cy="320040"/>
          </a:xfrm>
          <a:prstGeom prst="rect">
            <a:avLst/>
          </a:prstGeom>
          <a:noFill/>
        </p:spPr>
        <p:txBody>
          <a:bodyPr wrap="square" lIns="0" rIns="0" tIns="0" bIns="0" anchor="t">
            <a:spAutoFit/>
          </a:bodyPr>
          <a:lstStyle/>
          <a:p>
            <a:pPr algn="l">
              <a:spcAft>
                <a:spcPts val="0"/>
              </a:spcAft>
            </a:pPr>
            <a:r>
              <a:rPr sz="1000" b="0" i="0">
                <a:solidFill>
                  <a:srgbClr val="6B7280"/>
                </a:solidFill>
                <a:latin typeface="Calibri"/>
              </a:rPr>
              <a:t>Source: NYC TLC Yellow Taxi trip records, January 2025 (nyc.gov/tlc). Completed trips only; eligibility rules per project Phase 2. Shares are of all 3,402,692 eligible pickups. Fitted: 101 zones with ≥ 1,000 pickups (92.0%).</a:t>
            </a:r>
          </a:p>
        </p:txBody>
      </p:sp>
      <p:sp>
        <p:nvSpPr>
          <p:cNvPr id="20" name="Slide number"/>
          <p:cNvSpPr txBox="1"/>
          <p:nvPr/>
        </p:nvSpPr>
        <p:spPr>
          <a:xfrm>
            <a:off x="11185855" y="6382512"/>
            <a:ext cx="457200" cy="320040"/>
          </a:xfrm>
          <a:prstGeom prst="rect">
            <a:avLst/>
          </a:prstGeom>
          <a:noFill/>
        </p:spPr>
        <p:txBody>
          <a:bodyPr wrap="square" lIns="0" rIns="0" tIns="0" bIns="0" anchor="t">
            <a:spAutoFit/>
          </a:bodyPr>
          <a:lstStyle/>
          <a:p>
            <a:pPr algn="r">
              <a:spcAft>
                <a:spcPts val="0"/>
              </a:spcAft>
            </a:pPr>
            <a:r>
              <a:rPr sz="1000" b="0" i="0">
                <a:solidFill>
                  <a:srgbClr val="6B7280"/>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84048"/>
            <a:ext cx="10972800" cy="274320"/>
          </a:xfrm>
          <a:prstGeom prst="rect">
            <a:avLst/>
          </a:prstGeom>
          <a:noFill/>
        </p:spPr>
        <p:txBody>
          <a:bodyPr wrap="square" lIns="0" rIns="0" tIns="0" bIns="0" anchor="t">
            <a:spAutoFit/>
          </a:bodyPr>
          <a:lstStyle/>
          <a:p>
            <a:pPr algn="l">
              <a:spcAft>
                <a:spcPts val="0"/>
              </a:spcAft>
            </a:pPr>
            <a:r>
              <a:rPr sz="1200" b="1" i="0">
                <a:solidFill>
                  <a:srgbClr val="4B5563"/>
                </a:solidFill>
                <a:latin typeface="Calibri"/>
              </a:rPr>
              <a:t>RECOMMENDATIONS AND VALIDATION</a:t>
            </a:r>
          </a:p>
        </p:txBody>
      </p:sp>
      <p:sp>
        <p:nvSpPr>
          <p:cNvPr id="3" name="Title"/>
          <p:cNvSpPr txBox="1"/>
          <p:nvPr/>
        </p:nvSpPr>
        <p:spPr>
          <a:xfrm>
            <a:off x="548640" y="658368"/>
            <a:ext cx="11064240" cy="914400"/>
          </a:xfrm>
          <a:prstGeom prst="rect">
            <a:avLst/>
          </a:prstGeom>
          <a:noFill/>
        </p:spPr>
        <p:txBody>
          <a:bodyPr wrap="square" lIns="0" rIns="0" tIns="0" bIns="0" anchor="t">
            <a:spAutoFit/>
          </a:bodyPr>
          <a:lstStyle/>
          <a:p>
            <a:pPr algn="l">
              <a:spcAft>
                <a:spcPts val="0"/>
              </a:spcAft>
            </a:pPr>
            <a:r>
              <a:rPr sz="2800" b="1" i="0">
                <a:solidFill>
                  <a:srgbClr val="14213D"/>
                </a:solidFill>
                <a:latin typeface="Calibri"/>
              </a:rPr>
              <a:t>Three low-risk next steps, each to be validated before claiming operational impact</a:t>
            </a:r>
          </a:p>
        </p:txBody>
      </p:sp>
      <p:sp>
        <p:nvSpPr>
          <p:cNvPr id="4" name="Recommendation 1"/>
          <p:cNvSpPr/>
          <p:nvPr/>
        </p:nvSpPr>
        <p:spPr>
          <a:xfrm>
            <a:off x="548640" y="1783080"/>
            <a:ext cx="3547872" cy="434340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011680"/>
            <a:ext cx="384048" cy="384048"/>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a:t>
            </a:r>
          </a:p>
        </p:txBody>
      </p:sp>
      <p:sp>
        <p:nvSpPr>
          <p:cNvPr id="6" name="TextBox 5"/>
          <p:cNvSpPr txBox="1"/>
          <p:nvPr/>
        </p:nvSpPr>
        <p:spPr>
          <a:xfrm>
            <a:off x="1280160" y="1965960"/>
            <a:ext cx="2633472" cy="685800"/>
          </a:xfrm>
          <a:prstGeom prst="rect">
            <a:avLst/>
          </a:prstGeom>
          <a:noFill/>
        </p:spPr>
        <p:txBody>
          <a:bodyPr wrap="square" lIns="0" rIns="0" tIns="0" bIns="0" anchor="ctr">
            <a:spAutoFit/>
          </a:bodyPr>
          <a:lstStyle/>
          <a:p>
            <a:pPr algn="l">
              <a:spcAft>
                <a:spcPts val="0"/>
              </a:spcAft>
            </a:pPr>
            <a:r>
              <a:rPr sz="1500" b="1" i="0">
                <a:solidFill>
                  <a:srgbClr val="14213D"/>
                </a:solidFill>
                <a:latin typeface="Calibri"/>
              </a:rPr>
              <a:t>Investigate repositioning in recurring imbalance corridors</a:t>
            </a:r>
          </a:p>
        </p:txBody>
      </p:sp>
      <p:sp>
        <p:nvSpPr>
          <p:cNvPr id="7" name="TextBox 6"/>
          <p:cNvSpPr txBox="1"/>
          <p:nvPr/>
        </p:nvSpPr>
        <p:spPr>
          <a:xfrm>
            <a:off x="777240" y="2834640"/>
            <a:ext cx="3090672" cy="274320"/>
          </a:xfrm>
          <a:prstGeom prst="rect">
            <a:avLst/>
          </a:prstGeom>
          <a:noFill/>
        </p:spPr>
        <p:txBody>
          <a:bodyPr wrap="square" lIns="0" rIns="0" tIns="0" bIns="0" anchor="t">
            <a:spAutoFit/>
          </a:bodyPr>
          <a:lstStyle/>
          <a:p>
            <a:pPr algn="l">
              <a:spcAft>
                <a:spcPts val="0"/>
              </a:spcAft>
            </a:pPr>
            <a:r>
              <a:rPr sz="1000" b="1" i="0">
                <a:solidFill>
                  <a:srgbClr val="6B7280"/>
                </a:solidFill>
                <a:latin typeface="Calibri"/>
              </a:rPr>
              <a:t>EVIDENCE (OBSERVED)</a:t>
            </a:r>
          </a:p>
        </p:txBody>
      </p:sp>
      <p:sp>
        <p:nvSpPr>
          <p:cNvPr id="8" name="TextBox 7"/>
          <p:cNvSpPr txBox="1"/>
          <p:nvPr/>
        </p:nvSpPr>
        <p:spPr>
          <a:xfrm>
            <a:off x="777240" y="3090672"/>
            <a:ext cx="3090672" cy="777240"/>
          </a:xfrm>
          <a:prstGeom prst="rect">
            <a:avLst/>
          </a:prstGeom>
          <a:noFill/>
        </p:spPr>
        <p:txBody>
          <a:bodyPr wrap="square" lIns="0" rIns="0" tIns="0" bIns="0" anchor="t">
            <a:spAutoFit/>
          </a:bodyPr>
          <a:lstStyle/>
          <a:p>
            <a:pPr algn="l">
              <a:spcAft>
                <a:spcPts val="0"/>
              </a:spcAft>
            </a:pPr>
            <a:r>
              <a:rPr sz="1200" b="0" i="0">
                <a:solidFill>
                  <a:srgbClr val="1F2937"/>
                </a:solidFill>
                <a:latin typeface="Calibri"/>
              </a:rPr>
              <a:t>Midtown Center flows reverse on 21 of 21 weekdays; 225 of 228 strong zone-hours repeat their direction.</a:t>
            </a:r>
          </a:p>
        </p:txBody>
      </p:sp>
      <p:sp>
        <p:nvSpPr>
          <p:cNvPr id="9" name="TextBox 8"/>
          <p:cNvSpPr txBox="1"/>
          <p:nvPr/>
        </p:nvSpPr>
        <p:spPr>
          <a:xfrm>
            <a:off x="777240" y="3904488"/>
            <a:ext cx="3090672" cy="274320"/>
          </a:xfrm>
          <a:prstGeom prst="rect">
            <a:avLst/>
          </a:prstGeom>
          <a:noFill/>
        </p:spPr>
        <p:txBody>
          <a:bodyPr wrap="square" lIns="0" rIns="0" tIns="0" bIns="0" anchor="t">
            <a:spAutoFit/>
          </a:bodyPr>
          <a:lstStyle/>
          <a:p>
            <a:pPr algn="l">
              <a:spcAft>
                <a:spcPts val="0"/>
              </a:spcAft>
            </a:pPr>
            <a:r>
              <a:rPr sz="1000" b="1" i="0">
                <a:solidFill>
                  <a:srgbClr val="6B7280"/>
                </a:solidFill>
                <a:latin typeface="Calibri"/>
              </a:rPr>
              <a:t>PROPOSED ACTION</a:t>
            </a:r>
          </a:p>
        </p:txBody>
      </p:sp>
      <p:sp>
        <p:nvSpPr>
          <p:cNvPr id="10" name="TextBox 9"/>
          <p:cNvSpPr txBox="1"/>
          <p:nvPr/>
        </p:nvSpPr>
        <p:spPr>
          <a:xfrm>
            <a:off x="777240" y="4160520"/>
            <a:ext cx="3090672" cy="777240"/>
          </a:xfrm>
          <a:prstGeom prst="rect">
            <a:avLst/>
          </a:prstGeom>
          <a:noFill/>
        </p:spPr>
        <p:txBody>
          <a:bodyPr wrap="square" lIns="0" rIns="0" tIns="0" bIns="0" anchor="t">
            <a:spAutoFit/>
          </a:bodyPr>
          <a:lstStyle/>
          <a:p>
            <a:pPr algn="l">
              <a:spcAft>
                <a:spcPts val="0"/>
              </a:spcAft>
            </a:pPr>
            <a:r>
              <a:rPr sz="1200" b="0" i="0">
                <a:solidFill>
                  <a:srgbClr val="1F2937"/>
                </a:solidFill>
                <a:latin typeface="Calibri"/>
              </a:rPr>
              <a:t>Pilot study of where vacant taxis are and could be repositioned in the strongest morning and evening corridors.</a:t>
            </a:r>
          </a:p>
        </p:txBody>
      </p:sp>
      <p:sp>
        <p:nvSpPr>
          <p:cNvPr id="11" name="TextBox 10"/>
          <p:cNvSpPr txBox="1"/>
          <p:nvPr/>
        </p:nvSpPr>
        <p:spPr>
          <a:xfrm>
            <a:off x="777240" y="4974336"/>
            <a:ext cx="3090672" cy="274320"/>
          </a:xfrm>
          <a:prstGeom prst="rect">
            <a:avLst/>
          </a:prstGeom>
          <a:noFill/>
        </p:spPr>
        <p:txBody>
          <a:bodyPr wrap="square" lIns="0" rIns="0" tIns="0" bIns="0" anchor="t">
            <a:spAutoFit/>
          </a:bodyPr>
          <a:lstStyle/>
          <a:p>
            <a:pPr algn="l">
              <a:spcAft>
                <a:spcPts val="0"/>
              </a:spcAft>
            </a:pPr>
            <a:r>
              <a:rPr sz="1000" b="1" i="0">
                <a:solidFill>
                  <a:srgbClr val="6B7280"/>
                </a:solidFill>
                <a:latin typeface="Calibri"/>
              </a:rPr>
              <a:t>VALIDATE WITH</a:t>
            </a:r>
          </a:p>
        </p:txBody>
      </p:sp>
      <p:sp>
        <p:nvSpPr>
          <p:cNvPr id="12" name="TextBox 11"/>
          <p:cNvSpPr txBox="1"/>
          <p:nvPr/>
        </p:nvSpPr>
        <p:spPr>
          <a:xfrm>
            <a:off x="777240" y="5230368"/>
            <a:ext cx="3090672" cy="777240"/>
          </a:xfrm>
          <a:prstGeom prst="rect">
            <a:avLst/>
          </a:prstGeom>
          <a:noFill/>
        </p:spPr>
        <p:txBody>
          <a:bodyPr wrap="square" lIns="0" rIns="0" tIns="0" bIns="0" anchor="t">
            <a:spAutoFit/>
          </a:bodyPr>
          <a:lstStyle/>
          <a:p>
            <a:pPr algn="l">
              <a:spcAft>
                <a:spcPts val="0"/>
              </a:spcAft>
            </a:pPr>
            <a:r>
              <a:rPr sz="1200" b="0" i="0">
                <a:solidFill>
                  <a:srgbClr val="1F2937"/>
                </a:solidFill>
                <a:latin typeface="Calibri"/>
              </a:rPr>
              <a:t>Vacant-taxi locations, idle time and request or wait-time data, compared between pilot and control zones and hours.</a:t>
            </a:r>
          </a:p>
        </p:txBody>
      </p:sp>
      <p:sp>
        <p:nvSpPr>
          <p:cNvPr id="13" name="Recommendation 2"/>
          <p:cNvSpPr/>
          <p:nvPr/>
        </p:nvSpPr>
        <p:spPr>
          <a:xfrm>
            <a:off x="4320540" y="1783080"/>
            <a:ext cx="3547872" cy="434340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49140" y="2011680"/>
            <a:ext cx="384048" cy="384048"/>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15" name="TextBox 14"/>
          <p:cNvSpPr txBox="1"/>
          <p:nvPr/>
        </p:nvSpPr>
        <p:spPr>
          <a:xfrm>
            <a:off x="5052060" y="1965960"/>
            <a:ext cx="2633472" cy="685800"/>
          </a:xfrm>
          <a:prstGeom prst="rect">
            <a:avLst/>
          </a:prstGeom>
          <a:noFill/>
        </p:spPr>
        <p:txBody>
          <a:bodyPr wrap="square" lIns="0" rIns="0" tIns="0" bIns="0" anchor="ctr">
            <a:spAutoFit/>
          </a:bodyPr>
          <a:lstStyle/>
          <a:p>
            <a:pPr algn="l">
              <a:spcAft>
                <a:spcPts val="0"/>
              </a:spcAft>
            </a:pPr>
            <a:r>
              <a:rPr sz="1500" b="1" i="0">
                <a:solidFill>
                  <a:srgbClr val="14213D"/>
                </a:solidFill>
                <a:latin typeface="Calibri"/>
              </a:rPr>
              <a:t>Plan with time- and zone-specific operating profiles</a:t>
            </a:r>
          </a:p>
        </p:txBody>
      </p:sp>
      <p:sp>
        <p:nvSpPr>
          <p:cNvPr id="16" name="TextBox 15"/>
          <p:cNvSpPr txBox="1"/>
          <p:nvPr/>
        </p:nvSpPr>
        <p:spPr>
          <a:xfrm>
            <a:off x="4549140" y="2834640"/>
            <a:ext cx="3090672" cy="274320"/>
          </a:xfrm>
          <a:prstGeom prst="rect">
            <a:avLst/>
          </a:prstGeom>
          <a:noFill/>
        </p:spPr>
        <p:txBody>
          <a:bodyPr wrap="square" lIns="0" rIns="0" tIns="0" bIns="0" anchor="t">
            <a:spAutoFit/>
          </a:bodyPr>
          <a:lstStyle/>
          <a:p>
            <a:pPr algn="l">
              <a:spcAft>
                <a:spcPts val="0"/>
              </a:spcAft>
            </a:pPr>
            <a:r>
              <a:rPr sz="1000" b="1" i="0">
                <a:solidFill>
                  <a:srgbClr val="6B7280"/>
                </a:solidFill>
                <a:latin typeface="Calibri"/>
              </a:rPr>
              <a:t>EVIDENCE (OBSERVED)</a:t>
            </a:r>
          </a:p>
        </p:txBody>
      </p:sp>
      <p:sp>
        <p:nvSpPr>
          <p:cNvPr id="17" name="TextBox 16"/>
          <p:cNvSpPr txBox="1"/>
          <p:nvPr/>
        </p:nvSpPr>
        <p:spPr>
          <a:xfrm>
            <a:off x="4549140" y="3090672"/>
            <a:ext cx="3090672" cy="777240"/>
          </a:xfrm>
          <a:prstGeom prst="rect">
            <a:avLst/>
          </a:prstGeom>
          <a:noFill/>
        </p:spPr>
        <p:txBody>
          <a:bodyPr wrap="square" lIns="0" rIns="0" tIns="0" bIns="0" anchor="t">
            <a:spAutoFit/>
          </a:bodyPr>
          <a:lstStyle/>
          <a:p>
            <a:pPr algn="l">
              <a:spcAft>
                <a:spcPts val="0"/>
              </a:spcAft>
            </a:pPr>
            <a:r>
              <a:rPr sz="1200" b="0" i="0">
                <a:solidFill>
                  <a:srgbClr val="1F2937"/>
                </a:solidFill>
                <a:latin typeface="Calibri"/>
              </a:rPr>
              <a:t>Weekday pickups peak at 18:00 (9,401 per day); two segments with opposite morning flows carry 78.7% of pickups.</a:t>
            </a:r>
          </a:p>
        </p:txBody>
      </p:sp>
      <p:sp>
        <p:nvSpPr>
          <p:cNvPr id="18" name="TextBox 17"/>
          <p:cNvSpPr txBox="1"/>
          <p:nvPr/>
        </p:nvSpPr>
        <p:spPr>
          <a:xfrm>
            <a:off x="4549140" y="3904488"/>
            <a:ext cx="3090672" cy="274320"/>
          </a:xfrm>
          <a:prstGeom prst="rect">
            <a:avLst/>
          </a:prstGeom>
          <a:noFill/>
        </p:spPr>
        <p:txBody>
          <a:bodyPr wrap="square" lIns="0" rIns="0" tIns="0" bIns="0" anchor="t">
            <a:spAutoFit/>
          </a:bodyPr>
          <a:lstStyle/>
          <a:p>
            <a:pPr algn="l">
              <a:spcAft>
                <a:spcPts val="0"/>
              </a:spcAft>
            </a:pPr>
            <a:r>
              <a:rPr sz="1000" b="1" i="0">
                <a:solidFill>
                  <a:srgbClr val="6B7280"/>
                </a:solidFill>
                <a:latin typeface="Calibri"/>
              </a:rPr>
              <a:t>PROPOSED ACTION</a:t>
            </a:r>
          </a:p>
        </p:txBody>
      </p:sp>
      <p:sp>
        <p:nvSpPr>
          <p:cNvPr id="19" name="TextBox 18"/>
          <p:cNvSpPr txBox="1"/>
          <p:nvPr/>
        </p:nvSpPr>
        <p:spPr>
          <a:xfrm>
            <a:off x="4549140" y="4160520"/>
            <a:ext cx="3090672" cy="777240"/>
          </a:xfrm>
          <a:prstGeom prst="rect">
            <a:avLst/>
          </a:prstGeom>
          <a:noFill/>
        </p:spPr>
        <p:txBody>
          <a:bodyPr wrap="square" lIns="0" rIns="0" tIns="0" bIns="0" anchor="t">
            <a:spAutoFit/>
          </a:bodyPr>
          <a:lstStyle/>
          <a:p>
            <a:pPr algn="l">
              <a:spcAft>
                <a:spcPts val="0"/>
              </a:spcAft>
            </a:pPr>
            <a:r>
              <a:rPr sz="1200" b="0" i="0">
                <a:solidFill>
                  <a:srgbClr val="1F2937"/>
                </a:solidFill>
                <a:latin typeface="Calibri"/>
              </a:rPr>
              <a:t>Use the five segments plus airports as a starting frame for staffing, staging and communication calendars.</a:t>
            </a:r>
          </a:p>
        </p:txBody>
      </p:sp>
      <p:sp>
        <p:nvSpPr>
          <p:cNvPr id="20" name="TextBox 19"/>
          <p:cNvSpPr txBox="1"/>
          <p:nvPr/>
        </p:nvSpPr>
        <p:spPr>
          <a:xfrm>
            <a:off x="4549140" y="4974336"/>
            <a:ext cx="3090672" cy="274320"/>
          </a:xfrm>
          <a:prstGeom prst="rect">
            <a:avLst/>
          </a:prstGeom>
          <a:noFill/>
        </p:spPr>
        <p:txBody>
          <a:bodyPr wrap="square" lIns="0" rIns="0" tIns="0" bIns="0" anchor="t">
            <a:spAutoFit/>
          </a:bodyPr>
          <a:lstStyle/>
          <a:p>
            <a:pPr algn="l">
              <a:spcAft>
                <a:spcPts val="0"/>
              </a:spcAft>
            </a:pPr>
            <a:r>
              <a:rPr sz="1000" b="1" i="0">
                <a:solidFill>
                  <a:srgbClr val="6B7280"/>
                </a:solidFill>
                <a:latin typeface="Calibri"/>
              </a:rPr>
              <a:t>VALIDATE WITH</a:t>
            </a:r>
          </a:p>
        </p:txBody>
      </p:sp>
      <p:sp>
        <p:nvSpPr>
          <p:cNvPr id="21" name="TextBox 20"/>
          <p:cNvSpPr txBox="1"/>
          <p:nvPr/>
        </p:nvSpPr>
        <p:spPr>
          <a:xfrm>
            <a:off x="4549140" y="5230368"/>
            <a:ext cx="3090672" cy="777240"/>
          </a:xfrm>
          <a:prstGeom prst="rect">
            <a:avLst/>
          </a:prstGeom>
          <a:noFill/>
        </p:spPr>
        <p:txBody>
          <a:bodyPr wrap="square" lIns="0" rIns="0" tIns="0" bIns="0" anchor="t">
            <a:spAutoFit/>
          </a:bodyPr>
          <a:lstStyle/>
          <a:p>
            <a:pPr algn="l">
              <a:spcAft>
                <a:spcPts val="0"/>
              </a:spcAft>
            </a:pPr>
            <a:r>
              <a:rPr sz="1200" b="0" i="0">
                <a:solidFill>
                  <a:srgbClr val="1F2937"/>
                </a:solidFill>
                <a:latin typeface="Calibri"/>
              </a:rPr>
              <a:t>Re-run on further months; track segment stability and forecast error by segment.</a:t>
            </a:r>
          </a:p>
        </p:txBody>
      </p:sp>
      <p:sp>
        <p:nvSpPr>
          <p:cNvPr id="22" name="Recommendation 3"/>
          <p:cNvSpPr/>
          <p:nvPr/>
        </p:nvSpPr>
        <p:spPr>
          <a:xfrm>
            <a:off x="8092440" y="1783080"/>
            <a:ext cx="3547872" cy="434340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321040" y="2011680"/>
            <a:ext cx="384048" cy="384048"/>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3</a:t>
            </a:r>
          </a:p>
        </p:txBody>
      </p:sp>
      <p:sp>
        <p:nvSpPr>
          <p:cNvPr id="24" name="TextBox 23"/>
          <p:cNvSpPr txBox="1"/>
          <p:nvPr/>
        </p:nvSpPr>
        <p:spPr>
          <a:xfrm>
            <a:off x="8823960" y="1965960"/>
            <a:ext cx="2633472" cy="685800"/>
          </a:xfrm>
          <a:prstGeom prst="rect">
            <a:avLst/>
          </a:prstGeom>
          <a:noFill/>
        </p:spPr>
        <p:txBody>
          <a:bodyPr wrap="square" lIns="0" rIns="0" tIns="0" bIns="0" anchor="ctr">
            <a:spAutoFit/>
          </a:bodyPr>
          <a:lstStyle/>
          <a:p>
            <a:pPr algn="l">
              <a:spcAft>
                <a:spcPts val="0"/>
              </a:spcAft>
            </a:pPr>
            <a:r>
              <a:rPr sz="1500" b="1" i="0">
                <a:solidFill>
                  <a:srgbClr val="14213D"/>
                </a:solidFill>
                <a:latin typeface="Calibri"/>
              </a:rPr>
              <a:t>Separate metered and Flex Fare reporting</a:t>
            </a:r>
          </a:p>
        </p:txBody>
      </p:sp>
      <p:sp>
        <p:nvSpPr>
          <p:cNvPr id="25" name="TextBox 24"/>
          <p:cNvSpPr txBox="1"/>
          <p:nvPr/>
        </p:nvSpPr>
        <p:spPr>
          <a:xfrm>
            <a:off x="8321040" y="2834640"/>
            <a:ext cx="3090672" cy="274320"/>
          </a:xfrm>
          <a:prstGeom prst="rect">
            <a:avLst/>
          </a:prstGeom>
          <a:noFill/>
        </p:spPr>
        <p:txBody>
          <a:bodyPr wrap="square" lIns="0" rIns="0" tIns="0" bIns="0" anchor="t">
            <a:spAutoFit/>
          </a:bodyPr>
          <a:lstStyle/>
          <a:p>
            <a:pPr algn="l">
              <a:spcAft>
                <a:spcPts val="0"/>
              </a:spcAft>
            </a:pPr>
            <a:r>
              <a:rPr sz="1000" b="1" i="0">
                <a:solidFill>
                  <a:srgbClr val="6B7280"/>
                </a:solidFill>
                <a:latin typeface="Calibri"/>
              </a:rPr>
              <a:t>EVIDENCE (OBSERVED)</a:t>
            </a:r>
          </a:p>
        </p:txBody>
      </p:sp>
      <p:sp>
        <p:nvSpPr>
          <p:cNvPr id="26" name="TextBox 25"/>
          <p:cNvSpPr txBox="1"/>
          <p:nvPr/>
        </p:nvSpPr>
        <p:spPr>
          <a:xfrm>
            <a:off x="8321040" y="3090672"/>
            <a:ext cx="3090672" cy="777240"/>
          </a:xfrm>
          <a:prstGeom prst="rect">
            <a:avLst/>
          </a:prstGeom>
          <a:noFill/>
        </p:spPr>
        <p:txBody>
          <a:bodyPr wrap="square" lIns="0" rIns="0" tIns="0" bIns="0" anchor="t">
            <a:spAutoFit/>
          </a:bodyPr>
          <a:lstStyle/>
          <a:p>
            <a:pPr algn="l">
              <a:spcAft>
                <a:spcPts val="0"/>
              </a:spcAft>
            </a:pPr>
            <a:r>
              <a:rPr sz="1200" b="0" i="0">
                <a:solidFill>
                  <a:srgbClr val="1F2937"/>
                </a:solidFill>
                <a:latin typeface="Calibri"/>
              </a:rPr>
              <a:t>Flex Fare grew from about 4% to about 20% of daily pickups in January, shifting the metered fare sample.</a:t>
            </a:r>
          </a:p>
        </p:txBody>
      </p:sp>
      <p:sp>
        <p:nvSpPr>
          <p:cNvPr id="27" name="TextBox 26"/>
          <p:cNvSpPr txBox="1"/>
          <p:nvPr/>
        </p:nvSpPr>
        <p:spPr>
          <a:xfrm>
            <a:off x="8321040" y="3904488"/>
            <a:ext cx="3090672" cy="274320"/>
          </a:xfrm>
          <a:prstGeom prst="rect">
            <a:avLst/>
          </a:prstGeom>
          <a:noFill/>
        </p:spPr>
        <p:txBody>
          <a:bodyPr wrap="square" lIns="0" rIns="0" tIns="0" bIns="0" anchor="t">
            <a:spAutoFit/>
          </a:bodyPr>
          <a:lstStyle/>
          <a:p>
            <a:pPr algn="l">
              <a:spcAft>
                <a:spcPts val="0"/>
              </a:spcAft>
            </a:pPr>
            <a:r>
              <a:rPr sz="1000" b="1" i="0">
                <a:solidFill>
                  <a:srgbClr val="6B7280"/>
                </a:solidFill>
                <a:latin typeface="Calibri"/>
              </a:rPr>
              <a:t>PROPOSED ACTION</a:t>
            </a:r>
          </a:p>
        </p:txBody>
      </p:sp>
      <p:sp>
        <p:nvSpPr>
          <p:cNvPr id="28" name="TextBox 27"/>
          <p:cNvSpPr txBox="1"/>
          <p:nvPr/>
        </p:nvSpPr>
        <p:spPr>
          <a:xfrm>
            <a:off x="8321040" y="4160520"/>
            <a:ext cx="3090672" cy="777240"/>
          </a:xfrm>
          <a:prstGeom prst="rect">
            <a:avLst/>
          </a:prstGeom>
          <a:noFill/>
        </p:spPr>
        <p:txBody>
          <a:bodyPr wrap="square" lIns="0" rIns="0" tIns="0" bIns="0" anchor="t">
            <a:spAutoFit/>
          </a:bodyPr>
          <a:lstStyle/>
          <a:p>
            <a:pPr algn="l">
              <a:spcAft>
                <a:spcPts val="0"/>
              </a:spcAft>
            </a:pPr>
            <a:r>
              <a:rPr sz="1200" b="0" i="0">
                <a:solidFill>
                  <a:srgbClr val="1F2937"/>
                </a:solidFill>
                <a:latin typeface="Calibri"/>
              </a:rPr>
              <a:t>Report metered and Flex Fare activity separately, and show sample composition next to every fare trend.</a:t>
            </a:r>
          </a:p>
        </p:txBody>
      </p:sp>
      <p:sp>
        <p:nvSpPr>
          <p:cNvPr id="29" name="TextBox 28"/>
          <p:cNvSpPr txBox="1"/>
          <p:nvPr/>
        </p:nvSpPr>
        <p:spPr>
          <a:xfrm>
            <a:off x="8321040" y="4974336"/>
            <a:ext cx="3090672" cy="274320"/>
          </a:xfrm>
          <a:prstGeom prst="rect">
            <a:avLst/>
          </a:prstGeom>
          <a:noFill/>
        </p:spPr>
        <p:txBody>
          <a:bodyPr wrap="square" lIns="0" rIns="0" tIns="0" bIns="0" anchor="t">
            <a:spAutoFit/>
          </a:bodyPr>
          <a:lstStyle/>
          <a:p>
            <a:pPr algn="l">
              <a:spcAft>
                <a:spcPts val="0"/>
              </a:spcAft>
            </a:pPr>
            <a:r>
              <a:rPr sz="1000" b="1" i="0">
                <a:solidFill>
                  <a:srgbClr val="6B7280"/>
                </a:solidFill>
                <a:latin typeface="Calibri"/>
              </a:rPr>
              <a:t>VALIDATE WITH</a:t>
            </a:r>
          </a:p>
        </p:txBody>
      </p:sp>
      <p:sp>
        <p:nvSpPr>
          <p:cNvPr id="30" name="TextBox 29"/>
          <p:cNvSpPr txBox="1"/>
          <p:nvPr/>
        </p:nvSpPr>
        <p:spPr>
          <a:xfrm>
            <a:off x="8321040" y="5230368"/>
            <a:ext cx="3090672" cy="777240"/>
          </a:xfrm>
          <a:prstGeom prst="rect">
            <a:avLst/>
          </a:prstGeom>
          <a:noFill/>
        </p:spPr>
        <p:txBody>
          <a:bodyPr wrap="square" lIns="0" rIns="0" tIns="0" bIns="0" anchor="t">
            <a:spAutoFit/>
          </a:bodyPr>
          <a:lstStyle/>
          <a:p>
            <a:pPr algn="l">
              <a:spcAft>
                <a:spcPts val="0"/>
              </a:spcAft>
            </a:pPr>
            <a:r>
              <a:rPr sz="1200" b="0" i="0">
                <a:solidFill>
                  <a:srgbClr val="1F2937"/>
                </a:solidFill>
                <a:latin typeface="Calibri"/>
              </a:rPr>
              <a:t>Monthly Flex share by zone and hour, coverage of the fare sample by zone, and documented Flex fare fields.</a:t>
            </a:r>
          </a:p>
        </p:txBody>
      </p:sp>
      <p:sp>
        <p:nvSpPr>
          <p:cNvPr id="31" name="Source"/>
          <p:cNvSpPr txBox="1"/>
          <p:nvPr/>
        </p:nvSpPr>
        <p:spPr>
          <a:xfrm>
            <a:off x="548640" y="6382512"/>
            <a:ext cx="10424160" cy="320040"/>
          </a:xfrm>
          <a:prstGeom prst="rect">
            <a:avLst/>
          </a:prstGeom>
          <a:noFill/>
        </p:spPr>
        <p:txBody>
          <a:bodyPr wrap="square" lIns="0" rIns="0" tIns="0" bIns="0" anchor="t">
            <a:spAutoFit/>
          </a:bodyPr>
          <a:lstStyle/>
          <a:p>
            <a:pPr algn="l">
              <a:spcAft>
                <a:spcPts val="0"/>
              </a:spcAft>
            </a:pPr>
            <a:r>
              <a:rPr sz="1000" b="0" i="0">
                <a:solidFill>
                  <a:srgbClr val="6B7280"/>
                </a:solidFill>
                <a:latin typeface="Calibri"/>
              </a:rPr>
              <a:t>No reduction in waiting times, revenue gain or driver-utilisation improvement is claimed; each action requires the validation data listed. Source: NYC TLC Yellow Taxi trip records, January 2025 (nyc.gov/tlc). Completed trips only; eligibility rules per project Phase 2.</a:t>
            </a:r>
          </a:p>
        </p:txBody>
      </p:sp>
      <p:sp>
        <p:nvSpPr>
          <p:cNvPr id="32" name="Slide number"/>
          <p:cNvSpPr txBox="1"/>
          <p:nvPr/>
        </p:nvSpPr>
        <p:spPr>
          <a:xfrm>
            <a:off x="11185855" y="6382512"/>
            <a:ext cx="457200" cy="320040"/>
          </a:xfrm>
          <a:prstGeom prst="rect">
            <a:avLst/>
          </a:prstGeom>
          <a:noFill/>
        </p:spPr>
        <p:txBody>
          <a:bodyPr wrap="square" lIns="0" rIns="0" tIns="0" bIns="0" anchor="t">
            <a:spAutoFit/>
          </a:bodyPr>
          <a:lstStyle/>
          <a:p>
            <a:pPr algn="r">
              <a:spcAft>
                <a:spcPts val="0"/>
              </a:spcAft>
            </a:pPr>
            <a:r>
              <a:rPr sz="1000" b="0" i="0">
                <a:solidFill>
                  <a:srgbClr val="6B7280"/>
                </a:solidFill>
                <a:latin typeface="Calibri"/>
              </a:rPr>
              <a:t>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NYC Taxi Demand and Supply Analytics: executive summary</dc:title>
  <dc:subject>NYC TLC Yellow Taxi trip records, January 2025</dc:subject>
  <dc:creator>Delphino</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